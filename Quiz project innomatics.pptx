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78" r:id="rId5"/>
    <p:sldId id="260" r:id="rId6"/>
    <p:sldId id="261" r:id="rId7"/>
    <p:sldId id="262" r:id="rId8"/>
    <p:sldId id="263" r:id="rId9"/>
    <p:sldId id="288" r:id="rId10"/>
    <p:sldId id="264" r:id="rId11"/>
    <p:sldId id="270" r:id="rId12"/>
    <p:sldId id="271" r:id="rId13"/>
    <p:sldId id="265" r:id="rId14"/>
    <p:sldId id="279" r:id="rId15"/>
    <p:sldId id="290" r:id="rId16"/>
    <p:sldId id="291" r:id="rId17"/>
    <p:sldId id="268" r:id="rId18"/>
    <p:sldId id="280" r:id="rId19"/>
    <p:sldId id="274" r:id="rId20"/>
    <p:sldId id="277" r:id="rId21"/>
    <p:sldId id="289" r:id="rId22"/>
    <p:sldId id="266" r:id="rId23"/>
    <p:sldId id="267" r:id="rId24"/>
    <p:sldId id="259" r:id="rId25"/>
  </p:sldIdLst>
  <p:sldSz cx="12192000" cy="6858000"/>
  <p:notesSz cx="6858000" cy="9144000"/>
  <p:embeddedFontLst>
    <p:embeddedFont>
      <p:font typeface="Algerian" panose="04020705040A02060702" pitchFamily="82" charset="0"/>
      <p:regular r:id="rId27"/>
    </p:embeddedFon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450761"/>
            <a:ext cx="12190815" cy="6694098"/>
          </a:xfrm>
          <a:prstGeom prst="rect">
            <a:avLst/>
          </a:prstGeom>
          <a:noFill/>
          <a:ln>
            <a:noFill/>
          </a:ln>
        </p:spPr>
      </p:pic>
      <p:sp>
        <p:nvSpPr>
          <p:cNvPr id="99" name="Google Shape;99;p1"/>
          <p:cNvSpPr txBox="1"/>
          <p:nvPr/>
        </p:nvSpPr>
        <p:spPr>
          <a:xfrm>
            <a:off x="2472904" y="3717986"/>
            <a:ext cx="7246189" cy="830956"/>
          </a:xfrm>
          <a:prstGeom prst="rect">
            <a:avLst/>
          </a:prstGeom>
          <a:noFill/>
          <a:ln>
            <a:noFill/>
          </a:ln>
        </p:spPr>
        <p:txBody>
          <a:bodyPr spcFirstLastPara="1" wrap="square" lIns="91425" tIns="45700" rIns="91425" bIns="45700" anchor="t" anchorCtr="0">
            <a:spAutoFit/>
          </a:bodyPr>
          <a:lstStyle/>
          <a:p>
            <a:pPr lvl="0" algn="ctr">
              <a:buSzPts val="1800"/>
            </a:pPr>
            <a:r>
              <a:rPr lang="en-IN" sz="2400" b="1" dirty="0"/>
              <a:t>Smart Quiz Platform: Admin-Controlled MCQ System in Python</a:t>
            </a:r>
            <a:endParaRPr sz="1800" b="1" u="sng" strike="noStrike" cap="none" dirty="0">
              <a:solidFill>
                <a:srgbClr val="000000"/>
              </a:solidFill>
              <a:effectLst>
                <a:outerShdw blurRad="38100" dist="38100" dir="2700000" algn="tl">
                  <a:srgbClr val="000000">
                    <a:alpha val="43137"/>
                  </a:srgbClr>
                </a:outerShdw>
              </a:effectLst>
              <a:sym typeface="Arial"/>
            </a:endParaRPr>
          </a:p>
        </p:txBody>
      </p:sp>
      <p:sp>
        <p:nvSpPr>
          <p:cNvPr id="2" name="TextBox 1">
            <a:extLst>
              <a:ext uri="{FF2B5EF4-FFF2-40B4-BE49-F238E27FC236}">
                <a16:creationId xmlns:a16="http://schemas.microsoft.com/office/drawing/2014/main" id="{E5CA44B8-C928-CED3-70C1-D49904A3F541}"/>
              </a:ext>
            </a:extLst>
          </p:cNvPr>
          <p:cNvSpPr txBox="1"/>
          <p:nvPr/>
        </p:nvSpPr>
        <p:spPr>
          <a:xfrm>
            <a:off x="8822028" y="5320007"/>
            <a:ext cx="2459866" cy="923330"/>
          </a:xfrm>
          <a:prstGeom prst="rect">
            <a:avLst/>
          </a:prstGeom>
          <a:noFill/>
        </p:spPr>
        <p:txBody>
          <a:bodyPr wrap="square" rtlCol="0">
            <a:spAutoFit/>
          </a:bodyPr>
          <a:lstStyle/>
          <a:p>
            <a:r>
              <a:rPr lang="en-US" sz="1800" b="1" dirty="0">
                <a:solidFill>
                  <a:srgbClr val="FF0000"/>
                </a:solidFill>
              </a:rPr>
              <a:t>Presented by </a:t>
            </a:r>
            <a:r>
              <a:rPr lang="en-US" sz="1800" b="1" dirty="0"/>
              <a:t>:</a:t>
            </a:r>
          </a:p>
          <a:p>
            <a:r>
              <a:rPr lang="en-US" sz="1800" b="1" dirty="0"/>
              <a:t>P. Santhosh Kumar</a:t>
            </a:r>
          </a:p>
          <a:p>
            <a:r>
              <a:rPr lang="en-US" sz="1800" b="1" dirty="0">
                <a:solidFill>
                  <a:srgbClr val="FF0000"/>
                </a:solidFill>
              </a:rPr>
              <a:t>Batch No </a:t>
            </a:r>
            <a:r>
              <a:rPr lang="en-US" sz="1800" b="1" dirty="0"/>
              <a:t>: 504</a:t>
            </a:r>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86975" y="1183262"/>
            <a:ext cx="12112725" cy="3108503"/>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rgbClr val="FF0000"/>
                </a:solidFill>
                <a:latin typeface="Calibri"/>
                <a:ea typeface="Calibri"/>
                <a:cs typeface="Calibri"/>
                <a:sym typeface="Calibri"/>
              </a:rPr>
              <a:t>Background: </a:t>
            </a:r>
          </a:p>
          <a:p>
            <a:pPr lvl="2">
              <a:buClr>
                <a:schemeClr val="dk1"/>
              </a:buClr>
              <a:buSzPts val="2400"/>
            </a:pPr>
            <a:r>
              <a:rPr lang="en-IN" sz="2400" b="1" dirty="0">
                <a:solidFill>
                  <a:srgbClr val="FF0000"/>
                </a:solidFill>
                <a:latin typeface="Calibri"/>
                <a:ea typeface="Calibri"/>
                <a:cs typeface="Calibri"/>
                <a:sym typeface="Calibri"/>
              </a:rPr>
              <a:t>	</a:t>
            </a:r>
            <a:r>
              <a:rPr lang="en-IN" sz="2400" b="1" i="0" u="none" strike="noStrike" cap="none" dirty="0">
                <a:solidFill>
                  <a:schemeClr val="dk1"/>
                </a:solidFill>
                <a:latin typeface="Calibri"/>
                <a:ea typeface="Calibri"/>
                <a:cs typeface="Calibri"/>
                <a:sym typeface="Calibri"/>
              </a:rPr>
              <a:t>I  pursuing my bache</a:t>
            </a:r>
            <a:r>
              <a:rPr lang="en-US" sz="2400" b="1" i="0" u="none" strike="noStrike" cap="none" dirty="0">
                <a:solidFill>
                  <a:schemeClr val="dk1"/>
                </a:solidFill>
                <a:latin typeface="Calibri"/>
                <a:ea typeface="Calibri"/>
                <a:cs typeface="Calibri"/>
                <a:sym typeface="Calibri"/>
              </a:rPr>
              <a:t>lor of Technology in CSE(AI-ML) </a:t>
            </a:r>
            <a:r>
              <a:rPr lang="en-US" sz="2400" b="1" dirty="0">
                <a:solidFill>
                  <a:schemeClr val="dk1"/>
                </a:solidFill>
                <a:latin typeface="Calibri"/>
                <a:ea typeface="Calibri"/>
                <a:cs typeface="Calibri"/>
                <a:sym typeface="Calibri"/>
              </a:rPr>
              <a:t>in</a:t>
            </a:r>
            <a:r>
              <a:rPr lang="en-US" sz="2400" b="1" i="0" u="none" strike="noStrike" cap="none" dirty="0">
                <a:solidFill>
                  <a:schemeClr val="dk1"/>
                </a:solidFill>
                <a:latin typeface="Calibri"/>
                <a:ea typeface="Calibri"/>
                <a:cs typeface="Calibri"/>
                <a:sym typeface="Calibri"/>
              </a:rPr>
              <a:t> </a:t>
            </a:r>
            <a:r>
              <a:rPr lang="en-US" sz="2400" b="1" dirty="0">
                <a:solidFill>
                  <a:schemeClr val="dk1"/>
                </a:solidFill>
                <a:latin typeface="Calibri"/>
                <a:ea typeface="Calibri"/>
                <a:cs typeface="Calibri"/>
                <a:sym typeface="Calibri"/>
              </a:rPr>
              <a:t>Sandip University.</a:t>
            </a:r>
            <a:endParaRPr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rgbClr val="FF0000"/>
                </a:solidFill>
                <a:latin typeface="Calibri"/>
                <a:ea typeface="Calibri"/>
                <a:cs typeface="Calibri"/>
                <a:sym typeface="Calibri"/>
              </a:rPr>
              <a:t>Why you want to learn Data Science:</a:t>
            </a:r>
          </a:p>
          <a:p>
            <a:pPr marR="0" lvl="0" algn="l" rtl="0">
              <a:lnSpc>
                <a:spcPct val="100000"/>
              </a:lnSpc>
              <a:spcBef>
                <a:spcPts val="0"/>
              </a:spcBef>
              <a:spcAft>
                <a:spcPts val="0"/>
              </a:spcAft>
              <a:buClr>
                <a:schemeClr val="dk1"/>
              </a:buClr>
              <a:buSzPts val="2400"/>
            </a:pPr>
            <a:r>
              <a:rPr lang="en-IN" sz="2400" b="1" dirty="0">
                <a:solidFill>
                  <a:srgbClr val="FF0000"/>
                </a:solidFill>
                <a:latin typeface="Calibri"/>
                <a:ea typeface="Calibri"/>
                <a:cs typeface="Calibri"/>
                <a:sym typeface="Calibri"/>
              </a:rPr>
              <a:t>	</a:t>
            </a:r>
            <a:r>
              <a:rPr lang="en-IN" sz="2400" b="1" dirty="0">
                <a:solidFill>
                  <a:schemeClr val="tx1"/>
                </a:solidFill>
                <a:latin typeface="Calibri"/>
                <a:ea typeface="Calibri"/>
                <a:cs typeface="Calibri"/>
                <a:sym typeface="Calibri"/>
              </a:rPr>
              <a:t>I want to become an Quant engineer </a:t>
            </a:r>
            <a:r>
              <a:rPr lang="en-US" sz="2400" b="1" dirty="0">
                <a:solidFill>
                  <a:schemeClr val="tx1"/>
                </a:solidFill>
                <a:latin typeface="Calibri"/>
                <a:ea typeface="Calibri"/>
                <a:cs typeface="Calibri"/>
                <a:sym typeface="Calibri"/>
              </a:rPr>
              <a:t>for that data science is base.</a:t>
            </a:r>
            <a:endParaRPr sz="2400" b="1" i="0" u="none" strike="noStrike" cap="none" dirty="0">
              <a:solidFill>
                <a:srgbClr val="FF0000"/>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rgbClr val="FF0000"/>
                </a:solidFill>
                <a:latin typeface="Calibri"/>
                <a:ea typeface="Calibri"/>
                <a:cs typeface="Calibri"/>
                <a:sym typeface="Calibri"/>
              </a:rPr>
              <a:t>Any work experience:</a:t>
            </a:r>
          </a:p>
          <a:p>
            <a:pPr lvl="1">
              <a:buClr>
                <a:schemeClr val="dk1"/>
              </a:buClr>
              <a:buSzPts val="2400"/>
            </a:pPr>
            <a:r>
              <a:rPr lang="en-IN" sz="2400" b="1" dirty="0">
                <a:solidFill>
                  <a:srgbClr val="FF0000"/>
                </a:solidFill>
                <a:latin typeface="Calibri"/>
                <a:ea typeface="Calibri"/>
                <a:cs typeface="Calibri"/>
                <a:sym typeface="Calibri"/>
              </a:rPr>
              <a:t>	</a:t>
            </a:r>
            <a:r>
              <a:rPr lang="en-IN" sz="2400" b="1" dirty="0">
                <a:solidFill>
                  <a:schemeClr val="tx1"/>
                </a:solidFill>
                <a:latin typeface="Calibri"/>
                <a:ea typeface="Calibri"/>
                <a:cs typeface="Calibri"/>
                <a:sym typeface="Calibri"/>
              </a:rPr>
              <a:t>So, far I have no </a:t>
            </a:r>
            <a:r>
              <a:rPr lang="en-US" sz="2400" b="1" dirty="0">
                <a:solidFill>
                  <a:schemeClr val="tx1"/>
                </a:solidFill>
                <a:latin typeface="Calibri"/>
                <a:ea typeface="Calibri"/>
                <a:cs typeface="Calibri"/>
                <a:sym typeface="Calibri"/>
              </a:rPr>
              <a:t>experience </a:t>
            </a:r>
            <a:endParaRPr sz="2400" b="1" i="0" u="none" strike="noStrike" cap="none" dirty="0">
              <a:solidFill>
                <a:srgbClr val="FF0000"/>
              </a:solidFill>
              <a:latin typeface="Calibri"/>
              <a:ea typeface="Calibri"/>
              <a:cs typeface="Calibri"/>
              <a:sym typeface="Calibri"/>
            </a:endParaRPr>
          </a:p>
          <a:p>
            <a:pPr marL="285750" lvl="0" indent="-323850">
              <a:buClr>
                <a:schemeClr val="dk1"/>
              </a:buClr>
              <a:buSzPts val="2400"/>
              <a:buFont typeface="Calibri"/>
              <a:buChar char="•"/>
            </a:pPr>
            <a:r>
              <a:rPr lang="en-IN" sz="2400" b="1" dirty="0">
                <a:solidFill>
                  <a:srgbClr val="FF0000"/>
                </a:solidFill>
                <a:latin typeface="Calibri"/>
                <a:ea typeface="Calibri"/>
                <a:cs typeface="Calibri"/>
                <a:sym typeface="Calibri"/>
              </a:rPr>
              <a:t>LinkedIn : </a:t>
            </a:r>
            <a:r>
              <a:rPr lang="en-IN" sz="2800" dirty="0"/>
              <a:t>www.linkedin.com/in/puppala-santhosh-kumar</a:t>
            </a:r>
            <a:endParaRPr lang="en-IN" sz="4400" b="1" dirty="0">
              <a:solidFill>
                <a:srgbClr val="FF0000"/>
              </a:solidFill>
              <a:latin typeface="Calibri"/>
              <a:ea typeface="Calibri"/>
              <a:cs typeface="Calibri"/>
              <a:sym typeface="Calibri"/>
            </a:endParaRPr>
          </a:p>
          <a:p>
            <a:pPr marL="285750" lvl="0" indent="-323850">
              <a:buClr>
                <a:schemeClr val="dk1"/>
              </a:buClr>
              <a:buSzPts val="2400"/>
              <a:buFont typeface="Calibri"/>
              <a:buChar char="•"/>
            </a:pPr>
            <a:r>
              <a:rPr lang="en-IN" sz="2400" b="1" dirty="0">
                <a:solidFill>
                  <a:srgbClr val="FF0000"/>
                </a:solidFill>
                <a:latin typeface="Calibri"/>
                <a:ea typeface="Calibri"/>
                <a:cs typeface="Calibri"/>
                <a:sym typeface="Calibri"/>
              </a:rPr>
              <a:t>GitHub</a:t>
            </a:r>
            <a:r>
              <a:rPr lang="en-IN"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05" name="Google Shape;105;p3"/>
          <p:cNvSpPr txBox="1"/>
          <p:nvPr/>
        </p:nvSpPr>
        <p:spPr>
          <a:xfrm>
            <a:off x="427656" y="416554"/>
            <a:ext cx="6099600" cy="5847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000" b="1" i="0" u="sng"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a:rPr>
              <a:t>About</a:t>
            </a:r>
            <a:r>
              <a:rPr lang="en-IN" sz="3200" b="0" i="0" u="sng" strike="noStrike" cap="none" dirty="0">
                <a:solidFill>
                  <a:srgbClr val="FF0000"/>
                </a:solidFill>
                <a:latin typeface="Lato Black"/>
                <a:ea typeface="Lato Black"/>
                <a:cs typeface="Lato Black"/>
                <a:sym typeface="Lato Black"/>
              </a:rPr>
              <a:t> </a:t>
            </a:r>
            <a:r>
              <a:rPr lang="en-IN" sz="3200" b="0" i="0" u="sng" strike="noStrike" cap="none" dirty="0">
                <a:solidFill>
                  <a:schemeClr val="tx1"/>
                </a:solidFill>
                <a:latin typeface="Lato Black"/>
                <a:ea typeface="Lato Black"/>
                <a:cs typeface="Lato Black"/>
                <a:sym typeface="Lato Black"/>
              </a:rPr>
              <a:t>Me</a:t>
            </a:r>
            <a:endParaRPr sz="1800" b="0" i="0" u="sng" strike="noStrike" cap="none" dirty="0">
              <a:solidFill>
                <a:srgbClr val="FF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91808" y="26295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u="sng" dirty="0">
                <a:solidFill>
                  <a:srgbClr val="FF0000"/>
                </a:solidFill>
              </a:rPr>
              <a:t>Agenda</a:t>
            </a:r>
            <a:endParaRPr b="1" u="sng"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p>
          <a:p>
            <a:pPr marL="457200" lvl="0" indent="-431800" algn="l" rtl="0">
              <a:lnSpc>
                <a:spcPct val="90000"/>
              </a:lnSpc>
              <a:spcBef>
                <a:spcPts val="1000"/>
              </a:spcBef>
              <a:spcAft>
                <a:spcPts val="0"/>
              </a:spcAft>
              <a:buSzPts val="2400"/>
              <a:buChar char="•"/>
            </a:pPr>
            <a:r>
              <a:rPr lang="en-IN" sz="2400" b="1" dirty="0"/>
              <a:t>Introduction</a:t>
            </a:r>
          </a:p>
          <a:p>
            <a:pPr marL="457200" lvl="0" indent="-431800" algn="l" rtl="0">
              <a:lnSpc>
                <a:spcPct val="90000"/>
              </a:lnSpc>
              <a:spcBef>
                <a:spcPts val="1000"/>
              </a:spcBef>
              <a:spcAft>
                <a:spcPts val="0"/>
              </a:spcAft>
              <a:buSzPts val="2400"/>
              <a:buChar char="•"/>
            </a:pPr>
            <a:r>
              <a:rPr lang="en-IN" sz="2400" b="1" dirty="0"/>
              <a:t>Objective of the Project</a:t>
            </a:r>
          </a:p>
          <a:p>
            <a:pPr marL="457200" lvl="0" indent="-431800" algn="l" rtl="0">
              <a:lnSpc>
                <a:spcPct val="90000"/>
              </a:lnSpc>
              <a:spcBef>
                <a:spcPts val="1000"/>
              </a:spcBef>
              <a:spcAft>
                <a:spcPts val="0"/>
              </a:spcAft>
              <a:buSzPts val="2400"/>
              <a:buChar char="•"/>
            </a:pPr>
            <a:r>
              <a:rPr lang="en-IN" sz="2400" b="1" dirty="0"/>
              <a:t>Problem Statement</a:t>
            </a:r>
          </a:p>
          <a:p>
            <a:pPr marL="457200" lvl="0" indent="-431800" algn="l" rtl="0">
              <a:lnSpc>
                <a:spcPct val="90000"/>
              </a:lnSpc>
              <a:spcBef>
                <a:spcPts val="1000"/>
              </a:spcBef>
              <a:spcAft>
                <a:spcPts val="0"/>
              </a:spcAft>
              <a:buSzPts val="2400"/>
              <a:buChar char="•"/>
            </a:pPr>
            <a:r>
              <a:rPr lang="en-IN" sz="2400" b="1" dirty="0"/>
              <a:t>Concepts Used</a:t>
            </a:r>
          </a:p>
          <a:p>
            <a:pPr lvl="0" indent="-431800">
              <a:buSzPts val="2400"/>
            </a:pPr>
            <a:r>
              <a:rPr lang="en-IN" sz="2400" b="1" dirty="0"/>
              <a:t>Working of the System</a:t>
            </a:r>
            <a:endParaRPr sz="2400" b="1" dirty="0"/>
          </a:p>
          <a:p>
            <a:pPr lvl="0" indent="-431800">
              <a:buSzPts val="2400"/>
            </a:pPr>
            <a:r>
              <a:rPr lang="en-US" sz="2400" b="1" dirty="0">
                <a:solidFill>
                  <a:schemeClr val="tx1"/>
                </a:solidFill>
              </a:rPr>
              <a:t>Working Of Methods</a:t>
            </a:r>
          </a:p>
          <a:p>
            <a:pPr lvl="0" indent="-431800">
              <a:buSzPts val="2400"/>
            </a:pPr>
            <a:r>
              <a:rPr lang="en-US" sz="2400" b="1" dirty="0">
                <a:solidFill>
                  <a:schemeClr val="tx1"/>
                </a:solidFill>
              </a:rPr>
              <a:t>Execution of Code</a:t>
            </a:r>
          </a:p>
          <a:p>
            <a:pPr lvl="0" indent="-431800">
              <a:buSzPts val="2400"/>
            </a:pPr>
            <a:r>
              <a:rPr lang="en-IN" sz="2400" b="1" dirty="0"/>
              <a:t>Conclusion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4CD4A0-46C6-CE47-BFF2-A4886B76F32E}"/>
              </a:ext>
            </a:extLst>
          </p:cNvPr>
          <p:cNvSpPr>
            <a:spLocks noGrp="1"/>
          </p:cNvSpPr>
          <p:nvPr>
            <p:ph type="body" idx="1"/>
          </p:nvPr>
        </p:nvSpPr>
        <p:spPr>
          <a:xfrm>
            <a:off x="317091" y="323747"/>
            <a:ext cx="10515600" cy="5695182"/>
          </a:xfrm>
        </p:spPr>
        <p:txBody>
          <a:bodyPr/>
          <a:lstStyle/>
          <a:p>
            <a:pPr marL="114300" indent="0">
              <a:buNone/>
            </a:pPr>
            <a:r>
              <a:rPr lang="en-IN" sz="4400" b="1" u="sng" dirty="0">
                <a:solidFill>
                  <a:srgbClr val="FF0000"/>
                </a:solidFill>
              </a:rPr>
              <a:t>Business  problem:</a:t>
            </a:r>
          </a:p>
          <a:p>
            <a:pPr marL="114300" indent="0">
              <a:buNone/>
            </a:pPr>
            <a:endParaRPr lang="en-IN" sz="1400" b="1" u="sng" dirty="0">
              <a:solidFill>
                <a:srgbClr val="FF0000"/>
              </a:solidFill>
            </a:endParaRPr>
          </a:p>
        </p:txBody>
      </p:sp>
      <p:sp>
        <p:nvSpPr>
          <p:cNvPr id="5" name="Rectangle 3">
            <a:extLst>
              <a:ext uri="{FF2B5EF4-FFF2-40B4-BE49-F238E27FC236}">
                <a16:creationId xmlns:a16="http://schemas.microsoft.com/office/drawing/2014/main" id="{4B916C09-9262-F730-7F12-B45B525F02B3}"/>
              </a:ext>
            </a:extLst>
          </p:cNvPr>
          <p:cNvSpPr>
            <a:spLocks noChangeArrowheads="1"/>
          </p:cNvSpPr>
          <p:nvPr/>
        </p:nvSpPr>
        <p:spPr bwMode="auto">
          <a:xfrm>
            <a:off x="444910" y="1028343"/>
            <a:ext cx="989405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Quizzes and assessments are often conducted manually or with basic,</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unstructured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Lack of proper security in existing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Difficulty in managing and organizing multiple-choice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Challenges in updating quiz content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Maintaining fairness in assessments is problematic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No clear separation between admin and user roles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Risk of unauthorized access or modification of quiz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Students lack a personalized and consistent quiz experience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No proper system to track student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Absence of a centralized system for quiz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Overall process is time-consuming, error-prone, and inefficient </a:t>
            </a:r>
          </a:p>
        </p:txBody>
      </p:sp>
    </p:spTree>
    <p:extLst>
      <p:ext uri="{BB962C8B-B14F-4D97-AF65-F5344CB8AC3E}">
        <p14:creationId xmlns:p14="http://schemas.microsoft.com/office/powerpoint/2010/main" val="379177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6F885-3A0F-7236-4BA2-97D6E2BFBBFF}"/>
              </a:ext>
            </a:extLst>
          </p:cNvPr>
          <p:cNvSpPr txBox="1"/>
          <p:nvPr/>
        </p:nvSpPr>
        <p:spPr>
          <a:xfrm>
            <a:off x="756927" y="4042579"/>
            <a:ext cx="11848028" cy="400110"/>
          </a:xfrm>
          <a:prstGeom prst="rect">
            <a:avLst/>
          </a:prstGeom>
          <a:noFill/>
        </p:spPr>
        <p:txBody>
          <a:bodyPr wrap="square">
            <a:spAutoFit/>
          </a:bodyPr>
          <a:lstStyle/>
          <a:p>
            <a:r>
              <a:rPr lang="en-US" sz="2000" dirty="0"/>
              <a:t>           </a:t>
            </a:r>
          </a:p>
        </p:txBody>
      </p:sp>
      <p:sp>
        <p:nvSpPr>
          <p:cNvPr id="5" name="TextBox 4">
            <a:extLst>
              <a:ext uri="{FF2B5EF4-FFF2-40B4-BE49-F238E27FC236}">
                <a16:creationId xmlns:a16="http://schemas.microsoft.com/office/drawing/2014/main" id="{F17DB85A-3E3E-04E0-ED63-9AF5B67C67AD}"/>
              </a:ext>
            </a:extLst>
          </p:cNvPr>
          <p:cNvSpPr txBox="1"/>
          <p:nvPr/>
        </p:nvSpPr>
        <p:spPr>
          <a:xfrm>
            <a:off x="393290" y="237532"/>
            <a:ext cx="6098146" cy="707886"/>
          </a:xfrm>
          <a:prstGeom prst="rect">
            <a:avLst/>
          </a:prstGeom>
          <a:noFill/>
        </p:spPr>
        <p:txBody>
          <a:bodyPr wrap="square">
            <a:spAutoFit/>
          </a:bodyPr>
          <a:lstStyle/>
          <a:p>
            <a:pPr>
              <a:buNone/>
            </a:pPr>
            <a:r>
              <a:rPr lang="en-US" sz="4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2" name="Rectangle 1">
            <a:extLst>
              <a:ext uri="{FF2B5EF4-FFF2-40B4-BE49-F238E27FC236}">
                <a16:creationId xmlns:a16="http://schemas.microsoft.com/office/drawing/2014/main" id="{73BAEC7A-86DB-98B0-1489-455A1421D61F}"/>
              </a:ext>
            </a:extLst>
          </p:cNvPr>
          <p:cNvSpPr>
            <a:spLocks noChangeArrowheads="1"/>
          </p:cNvSpPr>
          <p:nvPr/>
        </p:nvSpPr>
        <p:spPr bwMode="auto">
          <a:xfrm>
            <a:off x="393290" y="705177"/>
            <a:ext cx="1158240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Quizzes and assessments are essential for evaluating knowledge and improving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Traditional methods are manual, unorganized, and time-consuming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Lack of proper security and structured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Difficulty in managing questions and users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Need for a reliable and automated quiz management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Project title: “Quiz Management System with Admin Control and User Authentication using 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Introduces role-based access for Admin and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Admin can add, view, and delete multiple-choice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Users can securely log in and attempt quizzes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System automatically evaluates answers and displays scores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Reduces manual effort and improves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Built using Python concepts: file handling, exception handling, and object-oriented programming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Demonstrates practical application of programming skills </a:t>
            </a:r>
          </a:p>
        </p:txBody>
      </p:sp>
    </p:spTree>
    <p:extLst>
      <p:ext uri="{BB962C8B-B14F-4D97-AF65-F5344CB8AC3E}">
        <p14:creationId xmlns:p14="http://schemas.microsoft.com/office/powerpoint/2010/main" val="3488378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BB84-5909-3AB2-B98D-E7D7B848E83C}"/>
              </a:ext>
            </a:extLst>
          </p:cNvPr>
          <p:cNvSpPr>
            <a:spLocks noGrp="1"/>
          </p:cNvSpPr>
          <p:nvPr>
            <p:ph type="title"/>
          </p:nvPr>
        </p:nvSpPr>
        <p:spPr/>
        <p:txBody>
          <a:bodyPr/>
          <a:lstStyle/>
          <a:p>
            <a:r>
              <a:rPr lang="en-US" b="1" u="sng" dirty="0">
                <a:solidFill>
                  <a:srgbClr val="FF0000"/>
                </a:solidFill>
              </a:rPr>
              <a:t>Objectives</a:t>
            </a:r>
            <a:endParaRPr lang="en-IN" b="1" u="sng" dirty="0">
              <a:solidFill>
                <a:srgbClr val="FF0000"/>
              </a:solidFill>
            </a:endParaRPr>
          </a:p>
        </p:txBody>
      </p:sp>
      <p:sp>
        <p:nvSpPr>
          <p:cNvPr id="5" name="Rectangle 2">
            <a:extLst>
              <a:ext uri="{FF2B5EF4-FFF2-40B4-BE49-F238E27FC236}">
                <a16:creationId xmlns:a16="http://schemas.microsoft.com/office/drawing/2014/main" id="{DD1FC3AB-A5D5-3313-CFF1-197D4667ECC9}"/>
              </a:ext>
            </a:extLst>
          </p:cNvPr>
          <p:cNvSpPr>
            <a:spLocks noChangeArrowheads="1"/>
          </p:cNvSpPr>
          <p:nvPr/>
        </p:nvSpPr>
        <p:spPr bwMode="auto">
          <a:xfrm>
            <a:off x="160564" y="1397237"/>
            <a:ext cx="1187087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develop a </a:t>
            </a:r>
            <a:r>
              <a:rPr kumimoji="0" lang="en-US" altLang="en-US" sz="2400" i="0" u="none" strike="noStrike" cap="none" normalizeH="0" baseline="0" dirty="0">
                <a:ln>
                  <a:noFill/>
                </a:ln>
                <a:solidFill>
                  <a:schemeClr val="tx1"/>
                </a:solidFill>
                <a:effectLst/>
                <a:latin typeface="Arial" panose="020B0604020202020204" pitchFamily="34" charset="0"/>
              </a:rPr>
              <a:t>Quiz Management System </a:t>
            </a:r>
            <a:r>
              <a:rPr kumimoji="0" lang="en-US" altLang="en-US" sz="2400" b="0" i="0" u="none" strike="noStrike" cap="none" normalizeH="0" baseline="0" dirty="0">
                <a:ln>
                  <a:noFill/>
                </a:ln>
                <a:solidFill>
                  <a:schemeClr val="tx1"/>
                </a:solidFill>
                <a:effectLst/>
                <a:latin typeface="Arial" panose="020B0604020202020204" pitchFamily="34" charset="0"/>
              </a:rPr>
              <a:t>using Python for conducting MCQ-based     quizzes.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implement a </a:t>
            </a:r>
            <a:r>
              <a:rPr kumimoji="0" lang="en-US" altLang="en-US" sz="2400" i="0" u="none" strike="noStrike" cap="none" normalizeH="0" baseline="0" dirty="0">
                <a:ln>
                  <a:noFill/>
                </a:ln>
                <a:solidFill>
                  <a:schemeClr val="tx1"/>
                </a:solidFill>
                <a:effectLst/>
                <a:latin typeface="Arial" panose="020B0604020202020204" pitchFamily="34" charset="0"/>
              </a:rPr>
              <a:t>secure login system </a:t>
            </a:r>
            <a:r>
              <a:rPr kumimoji="0" lang="en-US" altLang="en-US" sz="2400" b="0" i="0" u="none" strike="noStrike" cap="none" normalizeH="0" baseline="0" dirty="0">
                <a:ln>
                  <a:noFill/>
                </a:ln>
                <a:solidFill>
                  <a:schemeClr val="tx1"/>
                </a:solidFill>
                <a:effectLst/>
                <a:latin typeface="Arial" panose="020B0604020202020204" pitchFamily="34" charset="0"/>
              </a:rPr>
              <a:t>with separate roles for Admin and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allow the Admin to </a:t>
            </a:r>
            <a:r>
              <a:rPr kumimoji="0" lang="en-US" altLang="en-US" sz="2400" i="0" u="none" strike="noStrike" cap="none" normalizeH="0" baseline="0" dirty="0">
                <a:ln>
                  <a:noFill/>
                </a:ln>
                <a:solidFill>
                  <a:schemeClr val="tx1"/>
                </a:solidFill>
                <a:effectLst/>
                <a:latin typeface="Arial" panose="020B0604020202020204" pitchFamily="34" charset="0"/>
              </a:rPr>
              <a:t>add, view</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and delete quiz questions </a:t>
            </a:r>
            <a:r>
              <a:rPr kumimoji="0" lang="en-US" altLang="en-US" sz="2400" b="0" i="0" u="none" strike="noStrike" cap="none" normalizeH="0" baseline="0" dirty="0">
                <a:ln>
                  <a:noFill/>
                </a:ln>
                <a:solidFill>
                  <a:schemeClr val="tx1"/>
                </a:solidFill>
                <a:effectLst/>
                <a:latin typeface="Arial" panose="020B0604020202020204" pitchFamily="34" charset="0"/>
              </a:rPr>
              <a:t>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enable Users to </a:t>
            </a:r>
            <a:r>
              <a:rPr kumimoji="0" lang="en-US" altLang="en-US" sz="2400" i="0" u="none" strike="noStrike" cap="none" normalizeH="0" baseline="0" dirty="0">
                <a:ln>
                  <a:noFill/>
                </a:ln>
                <a:solidFill>
                  <a:schemeClr val="tx1"/>
                </a:solidFill>
                <a:effectLst/>
                <a:latin typeface="Arial" panose="020B0604020202020204" pitchFamily="34" charset="0"/>
              </a:rPr>
              <a:t>attempt quizzes and receive automatic evaluation and scores.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use </a:t>
            </a:r>
            <a:r>
              <a:rPr kumimoji="0" lang="en-US" altLang="en-US" sz="2400" i="0" u="none" strike="noStrike" cap="none" normalizeH="0" baseline="0" dirty="0">
                <a:ln>
                  <a:noFill/>
                </a:ln>
                <a:solidFill>
                  <a:schemeClr val="tx1"/>
                </a:solidFill>
                <a:effectLst/>
                <a:latin typeface="Arial" panose="020B0604020202020204" pitchFamily="34" charset="0"/>
              </a:rPr>
              <a:t>file handling </a:t>
            </a:r>
            <a:r>
              <a:rPr kumimoji="0" lang="en-US" altLang="en-US" sz="2400" b="0" i="0" u="none" strike="noStrike" cap="none" normalizeH="0" baseline="0" dirty="0">
                <a:ln>
                  <a:noFill/>
                </a:ln>
                <a:solidFill>
                  <a:schemeClr val="tx1"/>
                </a:solidFill>
                <a:effectLst/>
                <a:latin typeface="Arial" panose="020B0604020202020204" pitchFamily="34" charset="0"/>
              </a:rPr>
              <a:t>for storing and retrieving user and quiz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apply </a:t>
            </a:r>
            <a:r>
              <a:rPr kumimoji="0" lang="en-US" altLang="en-US" sz="2400" i="0" u="none" strike="noStrike" cap="none" normalizeH="0" baseline="0" dirty="0">
                <a:ln>
                  <a:noFill/>
                </a:ln>
                <a:solidFill>
                  <a:schemeClr val="tx1"/>
                </a:solidFill>
                <a:effectLst/>
                <a:latin typeface="Arial" panose="020B0604020202020204" pitchFamily="34" charset="0"/>
              </a:rPr>
              <a:t>exception handling </a:t>
            </a:r>
            <a:r>
              <a:rPr kumimoji="0" lang="en-US" altLang="en-US" sz="2400" b="0" i="0" u="none" strike="noStrike" cap="none" normalizeH="0" baseline="0" dirty="0">
                <a:ln>
                  <a:noFill/>
                </a:ln>
                <a:solidFill>
                  <a:schemeClr val="tx1"/>
                </a:solidFill>
                <a:effectLst/>
                <a:latin typeface="Arial" panose="020B0604020202020204" pitchFamily="34" charset="0"/>
              </a:rPr>
              <a:t>to manage invalid inputs and errors effectively.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design the system using </a:t>
            </a:r>
            <a:r>
              <a:rPr kumimoji="0" lang="en-US" altLang="en-US" sz="2400" i="0" u="none" strike="noStrike" cap="none" normalizeH="0" baseline="0" dirty="0">
                <a:ln>
                  <a:noFill/>
                </a:ln>
                <a:solidFill>
                  <a:schemeClr val="tx1"/>
                </a:solidFill>
                <a:effectLst/>
                <a:latin typeface="Arial" panose="020B0604020202020204" pitchFamily="34" charset="0"/>
              </a:rPr>
              <a:t>object-oriented programming (OOP) </a:t>
            </a:r>
            <a:r>
              <a:rPr kumimoji="0" lang="en-US" altLang="en-US" sz="2400" b="0" i="0" u="none" strike="noStrike" cap="none" normalizeH="0" baseline="0" dirty="0">
                <a:ln>
                  <a:noFill/>
                </a:ln>
                <a:solidFill>
                  <a:schemeClr val="tx1"/>
                </a:solidFill>
                <a:effectLst/>
                <a:latin typeface="Arial" panose="020B0604020202020204" pitchFamily="34" charset="0"/>
              </a:rPr>
              <a:t>principles for better structure and reusability.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reduce manual effort and create a </a:t>
            </a:r>
            <a:r>
              <a:rPr kumimoji="0" lang="en-US" altLang="en-US" sz="2400" i="0" u="none" strike="noStrike" cap="none" normalizeH="0" baseline="0" dirty="0">
                <a:ln>
                  <a:noFill/>
                </a:ln>
                <a:solidFill>
                  <a:schemeClr val="tx1"/>
                </a:solidFill>
                <a:effectLst/>
                <a:latin typeface="Arial" panose="020B0604020202020204" pitchFamily="34" charset="0"/>
              </a:rPr>
              <a:t>simple, efficient, and user-friendly quiz system</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63551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972B3-A5FE-0151-2678-33A6E007CFD1}"/>
              </a:ext>
            </a:extLst>
          </p:cNvPr>
          <p:cNvSpPr>
            <a:spLocks noGrp="1"/>
          </p:cNvSpPr>
          <p:nvPr>
            <p:ph type="title"/>
          </p:nvPr>
        </p:nvSpPr>
        <p:spPr/>
        <p:txBody>
          <a:bodyPr/>
          <a:lstStyle/>
          <a:p>
            <a:r>
              <a:rPr lang="en-US" b="1" u="sng" dirty="0">
                <a:solidFill>
                  <a:srgbClr val="FF0000"/>
                </a:solidFill>
              </a:rPr>
              <a:t>Problem Statement</a:t>
            </a:r>
            <a:endParaRPr lang="en-IN" u="sng" dirty="0">
              <a:solidFill>
                <a:srgbClr val="FF0000"/>
              </a:solidFill>
            </a:endParaRPr>
          </a:p>
        </p:txBody>
      </p:sp>
      <p:sp>
        <p:nvSpPr>
          <p:cNvPr id="4" name="TextBox 3">
            <a:extLst>
              <a:ext uri="{FF2B5EF4-FFF2-40B4-BE49-F238E27FC236}">
                <a16:creationId xmlns:a16="http://schemas.microsoft.com/office/drawing/2014/main" id="{040D7DE8-76CD-DD5B-D2A7-7E0856B4CAE5}"/>
              </a:ext>
            </a:extLst>
          </p:cNvPr>
          <p:cNvSpPr txBox="1"/>
          <p:nvPr/>
        </p:nvSpPr>
        <p:spPr>
          <a:xfrm>
            <a:off x="838200" y="1690688"/>
            <a:ext cx="10778544" cy="3416320"/>
          </a:xfrm>
          <a:prstGeom prst="rect">
            <a:avLst/>
          </a:prstGeom>
          <a:noFill/>
        </p:spPr>
        <p:txBody>
          <a:bodyPr wrap="square">
            <a:spAutoFit/>
          </a:bodyPr>
          <a:lstStyle/>
          <a:p>
            <a:r>
              <a:rPr lang="en-US" sz="2400" dirty="0"/>
              <a:t>Traditional quiz systems are often manual, unorganized, and lack proper security, making it difficult to manage questions and users efficiently. There is no clear role-based access, which can lead to unauthorized modifications and errors in quiz data.</a:t>
            </a:r>
          </a:p>
          <a:p>
            <a:endParaRPr lang="en-US" sz="2400" dirty="0"/>
          </a:p>
          <a:p>
            <a:r>
              <a:rPr lang="en-US" sz="2400" dirty="0"/>
              <a:t>This project aims to develop a Quiz Management System using Python that provides secure login, admin control for managing questions, and an automated system for conducting and evaluating MCQ-based quizzes efficiently.</a:t>
            </a:r>
          </a:p>
        </p:txBody>
      </p:sp>
    </p:spTree>
    <p:extLst>
      <p:ext uri="{BB962C8B-B14F-4D97-AF65-F5344CB8AC3E}">
        <p14:creationId xmlns:p14="http://schemas.microsoft.com/office/powerpoint/2010/main" val="185497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215A-B206-422A-B2D4-5DBC24F73E29}"/>
              </a:ext>
            </a:extLst>
          </p:cNvPr>
          <p:cNvSpPr>
            <a:spLocks noGrp="1"/>
          </p:cNvSpPr>
          <p:nvPr>
            <p:ph type="title"/>
          </p:nvPr>
        </p:nvSpPr>
        <p:spPr>
          <a:xfrm>
            <a:off x="838200" y="60549"/>
            <a:ext cx="10515600" cy="755752"/>
          </a:xfrm>
        </p:spPr>
        <p:txBody>
          <a:bodyPr/>
          <a:lstStyle/>
          <a:p>
            <a:pPr algn="just"/>
            <a:r>
              <a:rPr lang="en-IN" b="1" dirty="0">
                <a:solidFill>
                  <a:srgbClr val="FF0000"/>
                </a:solidFill>
              </a:rPr>
              <a:t>Concepts Used</a:t>
            </a:r>
          </a:p>
        </p:txBody>
      </p:sp>
      <p:sp>
        <p:nvSpPr>
          <p:cNvPr id="5" name="Rectangle 2">
            <a:extLst>
              <a:ext uri="{FF2B5EF4-FFF2-40B4-BE49-F238E27FC236}">
                <a16:creationId xmlns:a16="http://schemas.microsoft.com/office/drawing/2014/main" id="{0BC76817-20C6-F7F9-8E81-150AEA9C6EAF}"/>
              </a:ext>
            </a:extLst>
          </p:cNvPr>
          <p:cNvSpPr>
            <a:spLocks noChangeArrowheads="1"/>
          </p:cNvSpPr>
          <p:nvPr/>
        </p:nvSpPr>
        <p:spPr bwMode="auto">
          <a:xfrm rot="10800000" flipV="1">
            <a:off x="747251" y="910374"/>
            <a:ext cx="1163156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Data Types</a:t>
            </a:r>
            <a:r>
              <a:rPr kumimoji="0" lang="en-US" altLang="en-US" sz="2200" b="0" i="0" u="none" strike="noStrike" cap="none" normalizeH="0" baseline="0" dirty="0">
                <a:ln>
                  <a:noFill/>
                </a:ln>
                <a:solidFill>
                  <a:schemeClr val="tx1"/>
                </a:solidFill>
                <a:effectLst/>
                <a:latin typeface="Arial" panose="020B0604020202020204" pitchFamily="34" charset="0"/>
              </a:rPr>
              <a:t> – Used to store different types of data like strings, numbers, and lists (e.g., questions, options, scores).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Operators</a:t>
            </a:r>
            <a:r>
              <a:rPr kumimoji="0" lang="en-US" altLang="en-US" sz="2200" b="0" i="0" u="none" strike="noStrike" cap="none" normalizeH="0" baseline="0" dirty="0">
                <a:ln>
                  <a:noFill/>
                </a:ln>
                <a:solidFill>
                  <a:schemeClr val="tx1"/>
                </a:solidFill>
                <a:effectLst/>
                <a:latin typeface="Arial" panose="020B0604020202020204" pitchFamily="34" charset="0"/>
              </a:rPr>
              <a:t> – Used to perform calculations and comparisons, such as checking answers and calculating scores.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Conditional Statements (if-</a:t>
            </a:r>
            <a:r>
              <a:rPr kumimoji="0" lang="en-US" altLang="en-US" sz="2200" b="1" i="0" u="none" strike="noStrike" cap="none" normalizeH="0" baseline="0" dirty="0" err="1">
                <a:ln>
                  <a:noFill/>
                </a:ln>
                <a:solidFill>
                  <a:schemeClr val="tx1"/>
                </a:solidFill>
                <a:effectLst/>
                <a:latin typeface="Arial" panose="020B0604020202020204" pitchFamily="34" charset="0"/>
              </a:rPr>
              <a:t>elif</a:t>
            </a:r>
            <a:r>
              <a:rPr kumimoji="0" lang="en-US" altLang="en-US" sz="2200" b="1" i="0" u="none" strike="noStrike" cap="none" normalizeH="0" baseline="0" dirty="0">
                <a:ln>
                  <a:noFill/>
                </a:ln>
                <a:solidFill>
                  <a:schemeClr val="tx1"/>
                </a:solidFill>
                <a:effectLst/>
                <a:latin typeface="Arial" panose="020B0604020202020204" pitchFamily="34" charset="0"/>
              </a:rPr>
              <a:t>-else)</a:t>
            </a:r>
            <a:r>
              <a:rPr kumimoji="0" lang="en-US" altLang="en-US" sz="2200" b="0" i="0" u="none" strike="noStrike" cap="none" normalizeH="0" baseline="0" dirty="0">
                <a:ln>
                  <a:noFill/>
                </a:ln>
                <a:solidFill>
                  <a:schemeClr val="tx1"/>
                </a:solidFill>
                <a:effectLst/>
                <a:latin typeface="Arial" panose="020B0604020202020204" pitchFamily="34" charset="0"/>
              </a:rPr>
              <a:t> – Used to make decisions like validating login and checking correct answers.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Loops (for, while)</a:t>
            </a:r>
            <a:r>
              <a:rPr kumimoji="0" lang="en-US" altLang="en-US" sz="2200" b="0" i="0" u="none" strike="noStrike" cap="none" normalizeH="0" baseline="0" dirty="0">
                <a:ln>
                  <a:noFill/>
                </a:ln>
                <a:solidFill>
                  <a:schemeClr val="tx1"/>
                </a:solidFill>
                <a:effectLst/>
                <a:latin typeface="Arial" panose="020B0604020202020204" pitchFamily="34" charset="0"/>
              </a:rPr>
              <a:t> – Used to repeat tasks like displaying menu and iterating through questions.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Functions</a:t>
            </a:r>
            <a:r>
              <a:rPr kumimoji="0" lang="en-US" altLang="en-US" sz="2200" b="0" i="0" u="none" strike="noStrike" cap="none" normalizeH="0" baseline="0" dirty="0">
                <a:ln>
                  <a:noFill/>
                </a:ln>
                <a:solidFill>
                  <a:schemeClr val="tx1"/>
                </a:solidFill>
                <a:effectLst/>
                <a:latin typeface="Arial" panose="020B0604020202020204" pitchFamily="34" charset="0"/>
              </a:rPr>
              <a:t> – Used to organize code into reusable blocks for tasks like login, quiz, and admin operations.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File Handling</a:t>
            </a:r>
            <a:r>
              <a:rPr kumimoji="0" lang="en-US" altLang="en-US" sz="2200" b="0" i="0" u="none" strike="noStrike" cap="none" normalizeH="0" baseline="0" dirty="0">
                <a:ln>
                  <a:noFill/>
                </a:ln>
                <a:solidFill>
                  <a:schemeClr val="tx1"/>
                </a:solidFill>
                <a:effectLst/>
                <a:latin typeface="Arial" panose="020B0604020202020204" pitchFamily="34" charset="0"/>
              </a:rPr>
              <a:t> – Used to store and retrieve data such as user credentials and quiz questions from files.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Exception Handling</a:t>
            </a:r>
            <a:r>
              <a:rPr kumimoji="0" lang="en-US" altLang="en-US" sz="2200" b="0" i="0" u="none" strike="noStrike" cap="none" normalizeH="0" baseline="0" dirty="0">
                <a:ln>
                  <a:noFill/>
                </a:ln>
                <a:solidFill>
                  <a:schemeClr val="tx1"/>
                </a:solidFill>
                <a:effectLst/>
                <a:latin typeface="Arial" panose="020B0604020202020204" pitchFamily="34" charset="0"/>
              </a:rPr>
              <a:t> – Used to handle errors like invalid input or missing files without crashing the program.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Object-Oriented Programming (OOP)</a:t>
            </a:r>
            <a:r>
              <a:rPr kumimoji="0" lang="en-US" altLang="en-US" sz="2200" b="0" i="0" u="none" strike="noStrike" cap="none" normalizeH="0" baseline="0" dirty="0">
                <a:ln>
                  <a:noFill/>
                </a:ln>
                <a:solidFill>
                  <a:schemeClr val="tx1"/>
                </a:solidFill>
                <a:effectLst/>
                <a:latin typeface="Arial" panose="020B0604020202020204" pitchFamily="34" charset="0"/>
              </a:rPr>
              <a:t> – Used to create classes (like Question/User) for better structure and reusability of code. </a:t>
            </a:r>
          </a:p>
        </p:txBody>
      </p:sp>
    </p:spTree>
    <p:extLst>
      <p:ext uri="{BB962C8B-B14F-4D97-AF65-F5344CB8AC3E}">
        <p14:creationId xmlns:p14="http://schemas.microsoft.com/office/powerpoint/2010/main" val="136316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EF68AC-50EC-4ED9-18B2-7F2C451CFE53}"/>
              </a:ext>
            </a:extLst>
          </p:cNvPr>
          <p:cNvSpPr txBox="1"/>
          <p:nvPr/>
        </p:nvSpPr>
        <p:spPr>
          <a:xfrm>
            <a:off x="147483" y="255638"/>
            <a:ext cx="5801588" cy="830997"/>
          </a:xfrm>
          <a:prstGeom prst="rect">
            <a:avLst/>
          </a:prstGeom>
          <a:noFill/>
        </p:spPr>
        <p:txBody>
          <a:bodyPr wrap="none" rtlCol="0">
            <a:spAutoFit/>
          </a:bodyPr>
          <a:lstStyle/>
          <a:p>
            <a:r>
              <a:rPr lang="en-IN" sz="4800" u="sng" dirty="0">
                <a:solidFill>
                  <a:srgbClr val="FF0000"/>
                </a:solidFill>
              </a:rPr>
              <a:t>System architecture:</a:t>
            </a:r>
          </a:p>
        </p:txBody>
      </p:sp>
      <p:pic>
        <p:nvPicPr>
          <p:cNvPr id="4" name="Picture 3">
            <a:extLst>
              <a:ext uri="{FF2B5EF4-FFF2-40B4-BE49-F238E27FC236}">
                <a16:creationId xmlns:a16="http://schemas.microsoft.com/office/drawing/2014/main" id="{E28250D0-626C-52CC-4976-242F3D390B56}"/>
              </a:ext>
            </a:extLst>
          </p:cNvPr>
          <p:cNvPicPr>
            <a:picLocks noChangeAspect="1"/>
          </p:cNvPicPr>
          <p:nvPr/>
        </p:nvPicPr>
        <p:blipFill>
          <a:blip r:embed="rId2"/>
          <a:stretch>
            <a:fillRect/>
          </a:stretch>
        </p:blipFill>
        <p:spPr>
          <a:xfrm>
            <a:off x="0" y="1216715"/>
            <a:ext cx="5417574" cy="4188839"/>
          </a:xfrm>
          <a:prstGeom prst="rect">
            <a:avLst/>
          </a:prstGeom>
        </p:spPr>
      </p:pic>
      <p:sp>
        <p:nvSpPr>
          <p:cNvPr id="5" name="Rectangle 1">
            <a:extLst>
              <a:ext uri="{FF2B5EF4-FFF2-40B4-BE49-F238E27FC236}">
                <a16:creationId xmlns:a16="http://schemas.microsoft.com/office/drawing/2014/main" id="{438C1F73-137F-1A48-C267-D315CF2949B7}"/>
              </a:ext>
            </a:extLst>
          </p:cNvPr>
          <p:cNvSpPr>
            <a:spLocks noChangeArrowheads="1"/>
          </p:cNvSpPr>
          <p:nvPr/>
        </p:nvSpPr>
        <p:spPr bwMode="auto">
          <a:xfrm>
            <a:off x="5488462" y="1473424"/>
            <a:ext cx="628281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has two roles: </a:t>
            </a:r>
            <a:r>
              <a:rPr kumimoji="0" lang="en-US" altLang="en-US" sz="1800" b="1" i="0" u="none" strike="noStrike" cap="none" normalizeH="0" baseline="0" dirty="0">
                <a:ln>
                  <a:noFill/>
                </a:ln>
                <a:solidFill>
                  <a:schemeClr val="tx1"/>
                </a:solidFill>
                <a:effectLst/>
                <a:latin typeface="Arial" panose="020B0604020202020204" pitchFamily="34" charset="0"/>
              </a:rPr>
              <a:t>User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Admin</a:t>
            </a:r>
            <a:r>
              <a:rPr kumimoji="0" lang="en-US" altLang="en-US" sz="1800" b="0" i="0" u="none" strike="noStrike" cap="none" normalizeH="0" baseline="0" dirty="0">
                <a:ln>
                  <a:noFill/>
                </a:ln>
                <a:solidFill>
                  <a:schemeClr val="tx1"/>
                </a:solidFill>
                <a:effectLst/>
                <a:latin typeface="Arial" panose="020B0604020202020204" pitchFamily="34" charset="0"/>
              </a:rPr>
              <a:t>, both using an authentication system with </a:t>
            </a:r>
            <a:r>
              <a:rPr kumimoji="0" lang="en-US" altLang="en-US" sz="1800" b="1" i="0" u="none" strike="noStrike" cap="none" normalizeH="0" baseline="0" dirty="0">
                <a:ln>
                  <a:noFill/>
                </a:ln>
                <a:solidFill>
                  <a:schemeClr val="tx1"/>
                </a:solidFill>
                <a:effectLst/>
                <a:latin typeface="Arial" panose="020B0604020202020204" pitchFamily="34" charset="0"/>
              </a:rPr>
              <a:t>users.txt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quiz engine</a:t>
            </a:r>
            <a:r>
              <a:rPr kumimoji="0" lang="en-US" altLang="en-US" sz="1800" b="0" i="0" u="none" strike="noStrike" cap="none" normalizeH="0" baseline="0" dirty="0">
                <a:ln>
                  <a:noFill/>
                </a:ln>
                <a:solidFill>
                  <a:schemeClr val="tx1"/>
                </a:solidFill>
                <a:effectLst/>
                <a:latin typeface="Arial" panose="020B0604020202020204" pitchFamily="34" charset="0"/>
              </a:rPr>
              <a:t> handles questions, answers, and score calculation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is stored using files: </a:t>
            </a:r>
            <a:r>
              <a:rPr kumimoji="0" lang="en-US" altLang="en-US" sz="1800" b="1" i="0" u="none" strike="noStrike" cap="none" normalizeH="0" baseline="0" dirty="0">
                <a:ln>
                  <a:noFill/>
                </a:ln>
                <a:solidFill>
                  <a:schemeClr val="tx1"/>
                </a:solidFill>
                <a:effectLst/>
                <a:latin typeface="Arial" panose="020B0604020202020204" pitchFamily="34" charset="0"/>
              </a:rPr>
              <a:t>questions.txt</a:t>
            </a:r>
            <a:r>
              <a:rPr kumimoji="0" lang="en-US" altLang="en-US" sz="1800" b="0" i="0" u="none" strike="noStrike" cap="none" normalizeH="0" baseline="0" dirty="0">
                <a:ln>
                  <a:noFill/>
                </a:ln>
                <a:solidFill>
                  <a:schemeClr val="tx1"/>
                </a:solidFill>
                <a:effectLst/>
                <a:latin typeface="Arial" panose="020B0604020202020204" pitchFamily="34" charset="0"/>
              </a:rPr>
              <a:t> (questions) and </a:t>
            </a:r>
            <a:r>
              <a:rPr kumimoji="0" lang="en-US" altLang="en-US" sz="1800" b="1" i="0" u="none" strike="noStrike" cap="none" normalizeH="0" baseline="0" dirty="0">
                <a:ln>
                  <a:noFill/>
                </a:ln>
                <a:solidFill>
                  <a:schemeClr val="tx1"/>
                </a:solidFill>
                <a:effectLst/>
                <a:latin typeface="Arial" panose="020B0604020202020204" pitchFamily="34" charset="0"/>
              </a:rPr>
              <a:t>scores.txt</a:t>
            </a:r>
            <a:r>
              <a:rPr kumimoji="0" lang="en-US" altLang="en-US" sz="1800" b="0" i="0" u="none" strike="noStrike" cap="none" normalizeH="0" baseline="0" dirty="0">
                <a:ln>
                  <a:noFill/>
                </a:ln>
                <a:solidFill>
                  <a:schemeClr val="tx1"/>
                </a:solidFill>
                <a:effectLst/>
                <a:latin typeface="Arial" panose="020B0604020202020204" pitchFamily="34" charset="0"/>
              </a:rPr>
              <a:t>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Admin can add questions and view scores, while users can take quizzes and see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architecture ensures organized data management and smooth functioning </a:t>
            </a:r>
          </a:p>
        </p:txBody>
      </p:sp>
    </p:spTree>
    <p:extLst>
      <p:ext uri="{BB962C8B-B14F-4D97-AF65-F5344CB8AC3E}">
        <p14:creationId xmlns:p14="http://schemas.microsoft.com/office/powerpoint/2010/main" val="3964208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F79D-05A1-3E1D-D98F-011BB2885BBE}"/>
              </a:ext>
            </a:extLst>
          </p:cNvPr>
          <p:cNvSpPr>
            <a:spLocks noGrp="1"/>
          </p:cNvSpPr>
          <p:nvPr>
            <p:ph type="title"/>
          </p:nvPr>
        </p:nvSpPr>
        <p:spPr>
          <a:xfrm>
            <a:off x="838200" y="60354"/>
            <a:ext cx="10515600" cy="694482"/>
          </a:xfrm>
        </p:spPr>
        <p:txBody>
          <a:bodyPr>
            <a:normAutofit fontScale="90000"/>
          </a:bodyPr>
          <a:lstStyle/>
          <a:p>
            <a:r>
              <a:rPr lang="en-IN" b="1" u="sng" dirty="0">
                <a:solidFill>
                  <a:srgbClr val="FF0000"/>
                </a:solidFill>
              </a:rPr>
              <a:t>Working of the Program</a:t>
            </a:r>
          </a:p>
        </p:txBody>
      </p:sp>
      <p:sp>
        <p:nvSpPr>
          <p:cNvPr id="4" name="Rectangle 1">
            <a:extLst>
              <a:ext uri="{FF2B5EF4-FFF2-40B4-BE49-F238E27FC236}">
                <a16:creationId xmlns:a16="http://schemas.microsoft.com/office/drawing/2014/main" id="{FC2B5064-2C87-95E7-2261-407DFECA1CE2}"/>
              </a:ext>
            </a:extLst>
          </p:cNvPr>
          <p:cNvSpPr>
            <a:spLocks noChangeArrowheads="1"/>
          </p:cNvSpPr>
          <p:nvPr/>
        </p:nvSpPr>
        <p:spPr bwMode="auto">
          <a:xfrm>
            <a:off x="778170" y="883318"/>
            <a:ext cx="990527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program starts with </a:t>
            </a:r>
            <a:r>
              <a:rPr kumimoji="0" lang="en-US" altLang="en-US" sz="2400" b="1" i="0" u="none" strike="noStrike" cap="none" normalizeH="0" baseline="0" dirty="0">
                <a:ln>
                  <a:noFill/>
                </a:ln>
                <a:solidFill>
                  <a:schemeClr val="tx1"/>
                </a:solidFill>
                <a:effectLst/>
                <a:latin typeface="Arial" panose="020B0604020202020204" pitchFamily="34" charset="0"/>
              </a:rPr>
              <a:t>main()</a:t>
            </a:r>
            <a:r>
              <a:rPr kumimoji="0" lang="en-US" altLang="en-US" sz="2400" b="0" i="0" u="none" strike="noStrike" cap="none" normalizeH="0" baseline="0" dirty="0">
                <a:ln>
                  <a:noFill/>
                </a:ln>
                <a:solidFill>
                  <a:schemeClr val="tx1"/>
                </a:solidFill>
                <a:effectLst/>
                <a:latin typeface="Arial" panose="020B0604020202020204" pitchFamily="34" charset="0"/>
              </a:rPr>
              <a:t>, showing options: User, Admin, or Exit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User flow:</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Signup/Login using </a:t>
            </a:r>
            <a:r>
              <a:rPr kumimoji="0" lang="en-US" altLang="en-US" sz="2400" b="1" i="0" u="none" strike="noStrike" cap="none" normalizeH="0" baseline="0" dirty="0">
                <a:ln>
                  <a:noFill/>
                </a:ln>
                <a:solidFill>
                  <a:schemeClr val="tx1"/>
                </a:solidFill>
                <a:effectLst/>
                <a:latin typeface="Arial" panose="020B0604020202020204" pitchFamily="34" charset="0"/>
              </a:rPr>
              <a:t>users.txt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After login, user takes quiz from </a:t>
            </a:r>
            <a:r>
              <a:rPr kumimoji="0" lang="en-US" altLang="en-US" sz="2400" b="1" i="0" u="none" strike="noStrike" cap="none" normalizeH="0" baseline="0" dirty="0">
                <a:ln>
                  <a:noFill/>
                </a:ln>
                <a:solidFill>
                  <a:schemeClr val="tx1"/>
                </a:solidFill>
                <a:effectLst/>
                <a:latin typeface="Arial" panose="020B0604020202020204" pitchFamily="34" charset="0"/>
              </a:rPr>
              <a:t>questions.txt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Questions are shuffled and limited (e.g., 5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Answers are checked and score is calculated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Final score is displayed and saved in </a:t>
            </a:r>
            <a:r>
              <a:rPr kumimoji="0" lang="en-US" altLang="en-US" sz="2400" b="1" i="0" u="none" strike="noStrike" cap="none" normalizeH="0" baseline="0" dirty="0">
                <a:ln>
                  <a:noFill/>
                </a:ln>
                <a:solidFill>
                  <a:schemeClr val="tx1"/>
                </a:solidFill>
                <a:effectLst/>
                <a:latin typeface="Arial" panose="020B0604020202020204" pitchFamily="34" charset="0"/>
              </a:rPr>
              <a:t>scores.txt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Admin flow:</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Login using a password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Can add new questions to </a:t>
            </a:r>
            <a:r>
              <a:rPr kumimoji="0" lang="en-US" altLang="en-US" sz="2400" b="1" i="0" u="none" strike="noStrike" cap="none" normalizeH="0" baseline="0" dirty="0">
                <a:ln>
                  <a:noFill/>
                </a:ln>
                <a:solidFill>
                  <a:schemeClr val="tx1"/>
                </a:solidFill>
                <a:effectLst/>
                <a:latin typeface="Arial" panose="020B0604020202020204" pitchFamily="34" charset="0"/>
              </a:rPr>
              <a:t>questions.txt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Can view scores from </a:t>
            </a:r>
            <a:r>
              <a:rPr kumimoji="0" lang="en-US" altLang="en-US" sz="2400" b="1" i="0" u="none" strike="noStrike" cap="none" normalizeH="0" baseline="0" dirty="0">
                <a:ln>
                  <a:noFill/>
                </a:ln>
                <a:solidFill>
                  <a:schemeClr val="tx1"/>
                </a:solidFill>
                <a:effectLst/>
                <a:latin typeface="Arial" panose="020B0604020202020204" pitchFamily="34" charset="0"/>
              </a:rPr>
              <a:t>scores.txt</a:t>
            </a:r>
            <a:r>
              <a:rPr kumimoji="0" lang="en-US" altLang="en-US" sz="2400" b="0" i="0" u="none" strike="noStrike" cap="none" normalizeH="0" baseline="0" dirty="0">
                <a:ln>
                  <a:noFill/>
                </a:ln>
                <a:solidFill>
                  <a:schemeClr val="tx1"/>
                </a:solidFill>
                <a:effectLst/>
                <a:latin typeface="Arial" panose="020B0604020202020204" pitchFamily="34" charset="0"/>
              </a:rPr>
              <a:t> (sorted leaderboard)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program runs in a loop until </a:t>
            </a:r>
            <a:r>
              <a:rPr kumimoji="0" lang="en-US" altLang="en-US" sz="2400" b="1" i="0" u="none" strike="noStrike" cap="none" normalizeH="0" baseline="0" dirty="0">
                <a:ln>
                  <a:noFill/>
                </a:ln>
                <a:solidFill>
                  <a:schemeClr val="tx1"/>
                </a:solidFill>
                <a:effectLst/>
                <a:latin typeface="Arial" panose="020B0604020202020204" pitchFamily="34" charset="0"/>
              </a:rPr>
              <a:t>Exit</a:t>
            </a:r>
            <a:r>
              <a:rPr kumimoji="0" lang="en-US" altLang="en-US" sz="2400" b="0" i="0" u="none" strike="noStrike" cap="none" normalizeH="0" baseline="0" dirty="0">
                <a:ln>
                  <a:noFill/>
                </a:ln>
                <a:solidFill>
                  <a:schemeClr val="tx1"/>
                </a:solidFill>
                <a:effectLst/>
                <a:latin typeface="Arial" panose="020B0604020202020204" pitchFamily="34" charset="0"/>
              </a:rPr>
              <a:t> is selected </a:t>
            </a:r>
          </a:p>
        </p:txBody>
      </p:sp>
    </p:spTree>
    <p:extLst>
      <p:ext uri="{BB962C8B-B14F-4D97-AF65-F5344CB8AC3E}">
        <p14:creationId xmlns:p14="http://schemas.microsoft.com/office/powerpoint/2010/main" val="4276733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F7059F-684E-DEF3-DCD2-D88C24CF5350}"/>
              </a:ext>
            </a:extLst>
          </p:cNvPr>
          <p:cNvSpPr txBox="1"/>
          <p:nvPr/>
        </p:nvSpPr>
        <p:spPr>
          <a:xfrm>
            <a:off x="448767" y="426829"/>
            <a:ext cx="5141502" cy="1569660"/>
          </a:xfrm>
          <a:prstGeom prst="rect">
            <a:avLst/>
          </a:prstGeom>
          <a:noFill/>
        </p:spPr>
        <p:txBody>
          <a:bodyPr wrap="square" rtlCol="0">
            <a:spAutoFit/>
          </a:bodyPr>
          <a:lstStyle/>
          <a:p>
            <a:pPr lvl="0" eaLnBrk="0" fontAlgn="base" hangingPunct="0">
              <a:spcBef>
                <a:spcPct val="0"/>
              </a:spcBef>
              <a:spcAft>
                <a:spcPct val="0"/>
              </a:spcAft>
              <a:buClrTx/>
            </a:pPr>
            <a:r>
              <a:rPr lang="en-US" altLang="en-US" sz="2400" dirty="0">
                <a:solidFill>
                  <a:schemeClr val="tx1"/>
                </a:solidFill>
                <a:latin typeface="Arial" panose="020B0604020202020204" pitchFamily="34" charset="0"/>
              </a:rPr>
              <a:t>I used a </a:t>
            </a:r>
            <a:r>
              <a:rPr lang="en-US" altLang="en-US" sz="2400" b="1" dirty="0">
                <a:solidFill>
                  <a:schemeClr val="tx1"/>
                </a:solidFill>
                <a:latin typeface="Arial" panose="020B0604020202020204" pitchFamily="34" charset="0"/>
              </a:rPr>
              <a:t>while loop</a:t>
            </a:r>
            <a:r>
              <a:rPr lang="en-US" altLang="en-US" sz="2400" dirty="0">
                <a:solidFill>
                  <a:schemeClr val="tx1"/>
                </a:solidFill>
                <a:latin typeface="Arial" panose="020B0604020202020204" pitchFamily="34" charset="0"/>
              </a:rPr>
              <a:t> in this part of the code, which allows the program to keep running until the user stops it.</a:t>
            </a:r>
          </a:p>
        </p:txBody>
      </p:sp>
      <p:sp>
        <p:nvSpPr>
          <p:cNvPr id="4" name="Arrow: Right 3">
            <a:extLst>
              <a:ext uri="{FF2B5EF4-FFF2-40B4-BE49-F238E27FC236}">
                <a16:creationId xmlns:a16="http://schemas.microsoft.com/office/drawing/2014/main" id="{D73D1772-8429-2B1F-1F9C-1AEB08198097}"/>
              </a:ext>
            </a:extLst>
          </p:cNvPr>
          <p:cNvSpPr/>
          <p:nvPr/>
        </p:nvSpPr>
        <p:spPr>
          <a:xfrm>
            <a:off x="5781154" y="1304352"/>
            <a:ext cx="940158" cy="16742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6E674960-2878-13E4-A7A1-E57093CE8F96}"/>
              </a:ext>
            </a:extLst>
          </p:cNvPr>
          <p:cNvSpPr txBox="1"/>
          <p:nvPr/>
        </p:nvSpPr>
        <p:spPr>
          <a:xfrm>
            <a:off x="4242382" y="4861511"/>
            <a:ext cx="5141502" cy="1200329"/>
          </a:xfrm>
          <a:prstGeom prst="rect">
            <a:avLst/>
          </a:prstGeom>
          <a:noFill/>
        </p:spPr>
        <p:txBody>
          <a:bodyPr wrap="square" rtlCol="0">
            <a:spAutoFit/>
          </a:bodyPr>
          <a:lstStyle/>
          <a:p>
            <a:r>
              <a:rPr lang="en-US" sz="2400" dirty="0"/>
              <a:t>In this part of the code, I have used </a:t>
            </a:r>
            <a:r>
              <a:rPr lang="en-US" sz="2400" b="1" dirty="0"/>
              <a:t>conditional statements</a:t>
            </a:r>
            <a:r>
              <a:rPr lang="en-US" sz="2400" dirty="0"/>
              <a:t> to control the flow based on conditions.</a:t>
            </a:r>
          </a:p>
        </p:txBody>
      </p:sp>
      <p:sp>
        <p:nvSpPr>
          <p:cNvPr id="10" name="Arrow: Left 9">
            <a:extLst>
              <a:ext uri="{FF2B5EF4-FFF2-40B4-BE49-F238E27FC236}">
                <a16:creationId xmlns:a16="http://schemas.microsoft.com/office/drawing/2014/main" id="{2CE79174-4525-94A2-2CD7-81B4DEFF051C}"/>
              </a:ext>
            </a:extLst>
          </p:cNvPr>
          <p:cNvSpPr/>
          <p:nvPr/>
        </p:nvSpPr>
        <p:spPr>
          <a:xfrm>
            <a:off x="3019518" y="5305088"/>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pic>
        <p:nvPicPr>
          <p:cNvPr id="5" name="Picture 4">
            <a:extLst>
              <a:ext uri="{FF2B5EF4-FFF2-40B4-BE49-F238E27FC236}">
                <a16:creationId xmlns:a16="http://schemas.microsoft.com/office/drawing/2014/main" id="{676C9134-A363-CFF9-755A-56057800A064}"/>
              </a:ext>
            </a:extLst>
          </p:cNvPr>
          <p:cNvPicPr>
            <a:picLocks noChangeAspect="1"/>
          </p:cNvPicPr>
          <p:nvPr/>
        </p:nvPicPr>
        <p:blipFill>
          <a:blip r:embed="rId2"/>
          <a:stretch>
            <a:fillRect/>
          </a:stretch>
        </p:blipFill>
        <p:spPr>
          <a:xfrm>
            <a:off x="139069" y="2300568"/>
            <a:ext cx="2580571" cy="4370687"/>
          </a:xfrm>
          <a:prstGeom prst="rect">
            <a:avLst/>
          </a:prstGeom>
        </p:spPr>
      </p:pic>
      <p:pic>
        <p:nvPicPr>
          <p:cNvPr id="11" name="Picture 10">
            <a:extLst>
              <a:ext uri="{FF2B5EF4-FFF2-40B4-BE49-F238E27FC236}">
                <a16:creationId xmlns:a16="http://schemas.microsoft.com/office/drawing/2014/main" id="{4260871B-27FD-1A5A-538A-1F7663C998B5}"/>
              </a:ext>
            </a:extLst>
          </p:cNvPr>
          <p:cNvPicPr>
            <a:picLocks noChangeAspect="1"/>
          </p:cNvPicPr>
          <p:nvPr/>
        </p:nvPicPr>
        <p:blipFill>
          <a:blip r:embed="rId3"/>
          <a:stretch>
            <a:fillRect/>
          </a:stretch>
        </p:blipFill>
        <p:spPr>
          <a:xfrm>
            <a:off x="6721312" y="573218"/>
            <a:ext cx="5502589" cy="1727350"/>
          </a:xfrm>
          <a:prstGeom prst="rect">
            <a:avLst/>
          </a:prstGeom>
        </p:spPr>
      </p:pic>
    </p:spTree>
    <p:extLst>
      <p:ext uri="{BB962C8B-B14F-4D97-AF65-F5344CB8AC3E}">
        <p14:creationId xmlns:p14="http://schemas.microsoft.com/office/powerpoint/2010/main" val="328900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7BE05C0-3F69-055F-F8A1-8FF6FB78177A}"/>
              </a:ext>
            </a:extLst>
          </p:cNvPr>
          <p:cNvSpPr txBox="1"/>
          <p:nvPr/>
        </p:nvSpPr>
        <p:spPr>
          <a:xfrm>
            <a:off x="6194738" y="3691603"/>
            <a:ext cx="4958367" cy="1200329"/>
          </a:xfrm>
          <a:prstGeom prst="rect">
            <a:avLst/>
          </a:prstGeom>
          <a:noFill/>
        </p:spPr>
        <p:txBody>
          <a:bodyPr wrap="square" rtlCol="0">
            <a:spAutoFit/>
          </a:bodyPr>
          <a:lstStyle/>
          <a:p>
            <a:r>
              <a:rPr lang="en-US" sz="2400" dirty="0"/>
              <a:t>As this is menu driven code the user can select the option which are given in code while execution</a:t>
            </a:r>
            <a:endParaRPr lang="en-IN" sz="2400" dirty="0"/>
          </a:p>
        </p:txBody>
      </p:sp>
      <p:sp>
        <p:nvSpPr>
          <p:cNvPr id="12" name="TextBox 11">
            <a:extLst>
              <a:ext uri="{FF2B5EF4-FFF2-40B4-BE49-F238E27FC236}">
                <a16:creationId xmlns:a16="http://schemas.microsoft.com/office/drawing/2014/main" id="{5972E991-DBE0-5631-21AB-5861277B12A5}"/>
              </a:ext>
            </a:extLst>
          </p:cNvPr>
          <p:cNvSpPr txBox="1"/>
          <p:nvPr/>
        </p:nvSpPr>
        <p:spPr>
          <a:xfrm>
            <a:off x="940158" y="5412256"/>
            <a:ext cx="2653048" cy="307777"/>
          </a:xfrm>
          <a:prstGeom prst="rect">
            <a:avLst/>
          </a:prstGeom>
          <a:noFill/>
        </p:spPr>
        <p:txBody>
          <a:bodyPr wrap="square" rtlCol="0">
            <a:spAutoFit/>
          </a:bodyPr>
          <a:lstStyle/>
          <a:p>
            <a:r>
              <a:rPr lang="en-US" b="1" u="sng" dirty="0"/>
              <a:t>MENU GIVEN IN THE CODE</a:t>
            </a:r>
            <a:endParaRPr lang="en-IN" b="1" u="sng" dirty="0"/>
          </a:p>
        </p:txBody>
      </p:sp>
      <p:sp>
        <p:nvSpPr>
          <p:cNvPr id="17" name="Arrow: Left 16">
            <a:extLst>
              <a:ext uri="{FF2B5EF4-FFF2-40B4-BE49-F238E27FC236}">
                <a16:creationId xmlns:a16="http://schemas.microsoft.com/office/drawing/2014/main" id="{1C04905D-1996-2442-6B2E-0A4D9591A9DF}"/>
              </a:ext>
            </a:extLst>
          </p:cNvPr>
          <p:cNvSpPr/>
          <p:nvPr/>
        </p:nvSpPr>
        <p:spPr>
          <a:xfrm>
            <a:off x="4812722" y="4325495"/>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sp>
        <p:nvSpPr>
          <p:cNvPr id="18" name="Arrow: Left 17">
            <a:extLst>
              <a:ext uri="{FF2B5EF4-FFF2-40B4-BE49-F238E27FC236}">
                <a16:creationId xmlns:a16="http://schemas.microsoft.com/office/drawing/2014/main" id="{412D50C5-E9FE-5A73-AEAF-86D5A44E139F}"/>
              </a:ext>
            </a:extLst>
          </p:cNvPr>
          <p:cNvSpPr/>
          <p:nvPr/>
        </p:nvSpPr>
        <p:spPr>
          <a:xfrm>
            <a:off x="4812722" y="1282744"/>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pic>
        <p:nvPicPr>
          <p:cNvPr id="3" name="Picture 2">
            <a:extLst>
              <a:ext uri="{FF2B5EF4-FFF2-40B4-BE49-F238E27FC236}">
                <a16:creationId xmlns:a16="http://schemas.microsoft.com/office/drawing/2014/main" id="{91847AA8-677F-14E3-BA08-747D0BA35A30}"/>
              </a:ext>
            </a:extLst>
          </p:cNvPr>
          <p:cNvPicPr>
            <a:picLocks noChangeAspect="1"/>
          </p:cNvPicPr>
          <p:nvPr/>
        </p:nvPicPr>
        <p:blipFill>
          <a:blip r:embed="rId2"/>
          <a:stretch>
            <a:fillRect/>
          </a:stretch>
        </p:blipFill>
        <p:spPr>
          <a:xfrm>
            <a:off x="760609" y="323456"/>
            <a:ext cx="1971015" cy="2329381"/>
          </a:xfrm>
          <a:prstGeom prst="rect">
            <a:avLst/>
          </a:prstGeom>
        </p:spPr>
      </p:pic>
      <p:sp>
        <p:nvSpPr>
          <p:cNvPr id="4" name="Rectangle 1">
            <a:extLst>
              <a:ext uri="{FF2B5EF4-FFF2-40B4-BE49-F238E27FC236}">
                <a16:creationId xmlns:a16="http://schemas.microsoft.com/office/drawing/2014/main" id="{127D5431-6706-271B-2859-D6CBB93114EE}"/>
              </a:ext>
            </a:extLst>
          </p:cNvPr>
          <p:cNvSpPr>
            <a:spLocks noChangeArrowheads="1"/>
          </p:cNvSpPr>
          <p:nvPr/>
        </p:nvSpPr>
        <p:spPr bwMode="auto">
          <a:xfrm>
            <a:off x="6096000" y="775951"/>
            <a:ext cx="60357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class:</a:t>
            </a:r>
            <a:r>
              <a:rPr kumimoji="0" lang="en-US" altLang="en-US" sz="1800" b="0" i="0" u="none" strike="noStrike" cap="none" normalizeH="0" baseline="0" dirty="0">
                <a:ln>
                  <a:noFill/>
                </a:ln>
                <a:solidFill>
                  <a:schemeClr val="tx1"/>
                </a:solidFill>
                <a:effectLst/>
                <a:latin typeface="Arial" panose="020B0604020202020204" pitchFamily="34" charset="0"/>
              </a:rPr>
              <a:t> Represents a player who can take the quiz, track their score, and save 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Admin class:</a:t>
            </a:r>
            <a:r>
              <a:rPr kumimoji="0" lang="en-US" altLang="en-US" sz="1800" b="0" i="0" u="none" strike="noStrike" cap="none" normalizeH="0" baseline="0" dirty="0">
                <a:ln>
                  <a:noFill/>
                </a:ln>
                <a:solidFill>
                  <a:schemeClr val="tx1"/>
                </a:solidFill>
                <a:effectLst/>
                <a:latin typeface="Arial" panose="020B0604020202020204" pitchFamily="34" charset="0"/>
              </a:rPr>
              <a:t> Represents an admin who can add new questions and view user scores. </a:t>
            </a:r>
          </a:p>
        </p:txBody>
      </p:sp>
      <p:pic>
        <p:nvPicPr>
          <p:cNvPr id="7" name="Picture 6">
            <a:extLst>
              <a:ext uri="{FF2B5EF4-FFF2-40B4-BE49-F238E27FC236}">
                <a16:creationId xmlns:a16="http://schemas.microsoft.com/office/drawing/2014/main" id="{68C6EEFF-C024-27C3-F9FA-CBD865BE43F9}"/>
              </a:ext>
            </a:extLst>
          </p:cNvPr>
          <p:cNvPicPr>
            <a:picLocks noChangeAspect="1"/>
          </p:cNvPicPr>
          <p:nvPr/>
        </p:nvPicPr>
        <p:blipFill>
          <a:blip r:embed="rId3"/>
          <a:stretch>
            <a:fillRect/>
          </a:stretch>
        </p:blipFill>
        <p:spPr>
          <a:xfrm>
            <a:off x="406951" y="3871508"/>
            <a:ext cx="4255718" cy="1281462"/>
          </a:xfrm>
          <a:prstGeom prst="rect">
            <a:avLst/>
          </a:prstGeom>
        </p:spPr>
      </p:pic>
    </p:spTree>
    <p:extLst>
      <p:ext uri="{BB962C8B-B14F-4D97-AF65-F5344CB8AC3E}">
        <p14:creationId xmlns:p14="http://schemas.microsoft.com/office/powerpoint/2010/main" val="4141894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A26A-95F0-077F-522B-13C41FE3162F}"/>
              </a:ext>
            </a:extLst>
          </p:cNvPr>
          <p:cNvSpPr>
            <a:spLocks noGrp="1"/>
          </p:cNvSpPr>
          <p:nvPr>
            <p:ph type="title"/>
          </p:nvPr>
        </p:nvSpPr>
        <p:spPr>
          <a:xfrm>
            <a:off x="437029" y="-292306"/>
            <a:ext cx="10515600" cy="1325563"/>
          </a:xfrm>
        </p:spPr>
        <p:txBody>
          <a:bodyPr/>
          <a:lstStyle/>
          <a:p>
            <a:r>
              <a:rPr lang="en-US" b="1" u="sng" dirty="0">
                <a:solidFill>
                  <a:srgbClr val="FF0000"/>
                </a:solidFill>
              </a:rPr>
              <a:t>WORKING OF METHODS</a:t>
            </a:r>
            <a:endParaRPr lang="en-IN" b="1" u="sng" dirty="0">
              <a:solidFill>
                <a:srgbClr val="FF0000"/>
              </a:solidFill>
            </a:endParaRPr>
          </a:p>
        </p:txBody>
      </p:sp>
      <p:sp>
        <p:nvSpPr>
          <p:cNvPr id="3" name="Rectangle 1">
            <a:extLst>
              <a:ext uri="{FF2B5EF4-FFF2-40B4-BE49-F238E27FC236}">
                <a16:creationId xmlns:a16="http://schemas.microsoft.com/office/drawing/2014/main" id="{FD90E37D-8275-E3B9-C0E3-454CD87510E2}"/>
              </a:ext>
            </a:extLst>
          </p:cNvPr>
          <p:cNvSpPr>
            <a:spLocks noChangeArrowheads="1"/>
          </p:cNvSpPr>
          <p:nvPr/>
        </p:nvSpPr>
        <p:spPr bwMode="auto">
          <a:xfrm>
            <a:off x="525519" y="984966"/>
            <a:ext cx="1138965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User Selection</a:t>
            </a:r>
            <a:r>
              <a:rPr lang="en-US" sz="2000" dirty="0"/>
              <a:t> – The system starts with a menu where the user chooses between Admin login, User login, or Exit. </a:t>
            </a:r>
          </a:p>
          <a:p>
            <a:r>
              <a:rPr lang="en-US" sz="2000" b="1" dirty="0"/>
              <a:t>Authentication Process</a:t>
            </a:r>
            <a:r>
              <a:rPr lang="en-US" sz="2000" dirty="0"/>
              <a:t> – The entered username and password are verified using stored data in a file to ensure secure access. </a:t>
            </a:r>
          </a:p>
          <a:p>
            <a:r>
              <a:rPr lang="en-US" sz="2000" b="1" dirty="0"/>
              <a:t>Role-Based Access</a:t>
            </a:r>
            <a:r>
              <a:rPr lang="en-US" sz="2000" dirty="0"/>
              <a:t> – Based on login credentials, the system grants access either to Admin features or User features. </a:t>
            </a:r>
          </a:p>
          <a:p>
            <a:r>
              <a:rPr lang="en-US" sz="2000" b="1" dirty="0"/>
              <a:t>Admin Operations</a:t>
            </a:r>
            <a:r>
              <a:rPr lang="en-US" sz="2000" dirty="0"/>
              <a:t> – The Admin can add new MCQ questions, view existing questions, and delete questions from the file. </a:t>
            </a:r>
          </a:p>
          <a:p>
            <a:r>
              <a:rPr lang="en-US" sz="2000" b="1" dirty="0"/>
              <a:t>Data Storage</a:t>
            </a:r>
            <a:r>
              <a:rPr lang="en-US" sz="2000" dirty="0"/>
              <a:t> – All questions and user details are stored in files, ensuring data persistence for future use. </a:t>
            </a:r>
          </a:p>
          <a:p>
            <a:r>
              <a:rPr lang="en-US" sz="2000" b="1" dirty="0"/>
              <a:t>Quiz Execution</a:t>
            </a:r>
            <a:r>
              <a:rPr lang="en-US" sz="2000" dirty="0"/>
              <a:t> – The User can attempt the quiz where questions are displayed one by one with multiple options. </a:t>
            </a:r>
          </a:p>
          <a:p>
            <a:r>
              <a:rPr lang="en-US" sz="2000" b="1" dirty="0"/>
              <a:t>Answer Evaluation</a:t>
            </a:r>
            <a:r>
              <a:rPr lang="en-US" sz="2000" dirty="0"/>
              <a:t> – The system checks each answer and calculates the score automatically using conditions and operators. </a:t>
            </a:r>
          </a:p>
          <a:p>
            <a:r>
              <a:rPr lang="en-US" sz="2000" b="1" dirty="0"/>
              <a:t>Result Display</a:t>
            </a:r>
            <a:r>
              <a:rPr lang="en-US" sz="2000" dirty="0"/>
              <a:t> – At the end of the quiz, the total score is displayed to the user. </a:t>
            </a:r>
          </a:p>
          <a:p>
            <a:r>
              <a:rPr lang="en-US" sz="2000" b="1" dirty="0"/>
              <a:t>Error Handling</a:t>
            </a:r>
            <a:r>
              <a:rPr lang="en-US" sz="2000" dirty="0"/>
              <a:t> – The system handles invalid inputs and file-related errors using exception handling to avoid crashes.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0567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4BFADC-A80E-1B6B-E2DC-612413B330B6}"/>
              </a:ext>
            </a:extLst>
          </p:cNvPr>
          <p:cNvPicPr>
            <a:picLocks noChangeAspect="1"/>
          </p:cNvPicPr>
          <p:nvPr/>
        </p:nvPicPr>
        <p:blipFill>
          <a:blip r:embed="rId2"/>
          <a:stretch>
            <a:fillRect/>
          </a:stretch>
        </p:blipFill>
        <p:spPr>
          <a:xfrm>
            <a:off x="0" y="3600399"/>
            <a:ext cx="3128478" cy="2725732"/>
          </a:xfrm>
          <a:prstGeom prst="rect">
            <a:avLst/>
          </a:prstGeom>
        </p:spPr>
      </p:pic>
      <p:pic>
        <p:nvPicPr>
          <p:cNvPr id="5" name="Picture 4">
            <a:extLst>
              <a:ext uri="{FF2B5EF4-FFF2-40B4-BE49-F238E27FC236}">
                <a16:creationId xmlns:a16="http://schemas.microsoft.com/office/drawing/2014/main" id="{3819B38D-F227-7C30-2585-8C9D3574C5FC}"/>
              </a:ext>
            </a:extLst>
          </p:cNvPr>
          <p:cNvPicPr>
            <a:picLocks noChangeAspect="1"/>
          </p:cNvPicPr>
          <p:nvPr/>
        </p:nvPicPr>
        <p:blipFill>
          <a:blip r:embed="rId3"/>
          <a:stretch>
            <a:fillRect/>
          </a:stretch>
        </p:blipFill>
        <p:spPr>
          <a:xfrm>
            <a:off x="0" y="0"/>
            <a:ext cx="2851355" cy="2447515"/>
          </a:xfrm>
          <a:prstGeom prst="rect">
            <a:avLst/>
          </a:prstGeom>
        </p:spPr>
      </p:pic>
      <p:pic>
        <p:nvPicPr>
          <p:cNvPr id="7" name="Picture 6">
            <a:extLst>
              <a:ext uri="{FF2B5EF4-FFF2-40B4-BE49-F238E27FC236}">
                <a16:creationId xmlns:a16="http://schemas.microsoft.com/office/drawing/2014/main" id="{7B3A5B4A-9633-760C-EBF2-21B21F4A7BE1}"/>
              </a:ext>
            </a:extLst>
          </p:cNvPr>
          <p:cNvPicPr>
            <a:picLocks noChangeAspect="1"/>
          </p:cNvPicPr>
          <p:nvPr/>
        </p:nvPicPr>
        <p:blipFill>
          <a:blip r:embed="rId4"/>
          <a:stretch>
            <a:fillRect/>
          </a:stretch>
        </p:blipFill>
        <p:spPr>
          <a:xfrm>
            <a:off x="8421734" y="1620395"/>
            <a:ext cx="3770266" cy="2971270"/>
          </a:xfrm>
          <a:prstGeom prst="rect">
            <a:avLst/>
          </a:prstGeom>
        </p:spPr>
      </p:pic>
      <p:sp>
        <p:nvSpPr>
          <p:cNvPr id="8" name="Arrow: Right 7">
            <a:extLst>
              <a:ext uri="{FF2B5EF4-FFF2-40B4-BE49-F238E27FC236}">
                <a16:creationId xmlns:a16="http://schemas.microsoft.com/office/drawing/2014/main" id="{CF66F96B-58F1-0724-3592-81C65126B1E3}"/>
              </a:ext>
            </a:extLst>
          </p:cNvPr>
          <p:cNvSpPr/>
          <p:nvPr/>
        </p:nvSpPr>
        <p:spPr>
          <a:xfrm>
            <a:off x="3128478" y="28513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Left 8">
            <a:extLst>
              <a:ext uri="{FF2B5EF4-FFF2-40B4-BE49-F238E27FC236}">
                <a16:creationId xmlns:a16="http://schemas.microsoft.com/office/drawing/2014/main" id="{85EF2B75-16B2-62C3-F945-FBF720D2B947}"/>
              </a:ext>
            </a:extLst>
          </p:cNvPr>
          <p:cNvSpPr/>
          <p:nvPr/>
        </p:nvSpPr>
        <p:spPr>
          <a:xfrm>
            <a:off x="7285704" y="2863714"/>
            <a:ext cx="978408" cy="4846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DD18BFF9-C26D-6989-7D07-039049884F6C}"/>
              </a:ext>
            </a:extLst>
          </p:cNvPr>
          <p:cNvSpPr/>
          <p:nvPr/>
        </p:nvSpPr>
        <p:spPr>
          <a:xfrm>
            <a:off x="3433278" y="568304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EC6640A-CD30-7650-9215-1099BDB9EAF4}"/>
              </a:ext>
            </a:extLst>
          </p:cNvPr>
          <p:cNvSpPr txBox="1"/>
          <p:nvPr/>
        </p:nvSpPr>
        <p:spPr>
          <a:xfrm>
            <a:off x="4411686" y="177317"/>
            <a:ext cx="6236649" cy="1046440"/>
          </a:xfrm>
          <a:prstGeom prst="rect">
            <a:avLst/>
          </a:prstGeom>
          <a:noFill/>
        </p:spPr>
        <p:txBody>
          <a:bodyPr wrap="square" rtlCol="0">
            <a:spAutoFit/>
          </a:bodyPr>
          <a:lstStyle/>
          <a:p>
            <a:r>
              <a:rPr lang="en-US" sz="1600" dirty="0"/>
              <a:t>A Python function that reads questions from a text file, splits each line into question, options, and answer, and stores them in a list while handling missing file errors.</a:t>
            </a:r>
          </a:p>
          <a:p>
            <a:endParaRPr lang="en-IN" dirty="0"/>
          </a:p>
        </p:txBody>
      </p:sp>
      <p:sp>
        <p:nvSpPr>
          <p:cNvPr id="12" name="TextBox 11">
            <a:extLst>
              <a:ext uri="{FF2B5EF4-FFF2-40B4-BE49-F238E27FC236}">
                <a16:creationId xmlns:a16="http://schemas.microsoft.com/office/drawing/2014/main" id="{5867A8C2-8E74-FB51-8663-BF3868978819}"/>
              </a:ext>
            </a:extLst>
          </p:cNvPr>
          <p:cNvSpPr txBox="1"/>
          <p:nvPr/>
        </p:nvSpPr>
        <p:spPr>
          <a:xfrm>
            <a:off x="4581831" y="5495134"/>
            <a:ext cx="5633885" cy="830997"/>
          </a:xfrm>
          <a:prstGeom prst="rect">
            <a:avLst/>
          </a:prstGeom>
          <a:noFill/>
        </p:spPr>
        <p:txBody>
          <a:bodyPr wrap="square" rtlCol="0">
            <a:spAutoFit/>
          </a:bodyPr>
          <a:lstStyle/>
          <a:p>
            <a:r>
              <a:rPr lang="en-US" sz="1600" dirty="0"/>
              <a:t>A Python function that registers a new user by checking for existing usernames in a file and appending new credentials if unique, with error handling.</a:t>
            </a:r>
            <a:endParaRPr lang="en-IN" sz="1600" dirty="0"/>
          </a:p>
        </p:txBody>
      </p:sp>
      <p:sp>
        <p:nvSpPr>
          <p:cNvPr id="14" name="TextBox 13">
            <a:extLst>
              <a:ext uri="{FF2B5EF4-FFF2-40B4-BE49-F238E27FC236}">
                <a16:creationId xmlns:a16="http://schemas.microsoft.com/office/drawing/2014/main" id="{EFFF911B-7F4A-4FC1-0A5D-6D15A469C82D}"/>
              </a:ext>
            </a:extLst>
          </p:cNvPr>
          <p:cNvSpPr txBox="1"/>
          <p:nvPr/>
        </p:nvSpPr>
        <p:spPr>
          <a:xfrm>
            <a:off x="3286100" y="2601103"/>
            <a:ext cx="3841982" cy="1292662"/>
          </a:xfrm>
          <a:prstGeom prst="rect">
            <a:avLst/>
          </a:prstGeom>
          <a:noFill/>
        </p:spPr>
        <p:txBody>
          <a:bodyPr wrap="square" rtlCol="0">
            <a:spAutoFit/>
          </a:bodyPr>
          <a:lstStyle/>
          <a:p>
            <a:r>
              <a:rPr lang="en-US" sz="1600" dirty="0"/>
              <a:t>A Python function that verifies user login by checking entered credentials against stored data in a file and returns the username if valid, with error handling.</a:t>
            </a:r>
          </a:p>
          <a:p>
            <a:endParaRPr lang="en-IN" dirty="0"/>
          </a:p>
        </p:txBody>
      </p:sp>
      <p:sp>
        <p:nvSpPr>
          <p:cNvPr id="15" name="TextBox 14">
            <a:extLst>
              <a:ext uri="{FF2B5EF4-FFF2-40B4-BE49-F238E27FC236}">
                <a16:creationId xmlns:a16="http://schemas.microsoft.com/office/drawing/2014/main" id="{F9758823-32E6-672E-184E-5114353A43CC}"/>
              </a:ext>
            </a:extLst>
          </p:cNvPr>
          <p:cNvSpPr txBox="1"/>
          <p:nvPr/>
        </p:nvSpPr>
        <p:spPr>
          <a:xfrm>
            <a:off x="250906" y="2725732"/>
            <a:ext cx="2388368" cy="307777"/>
          </a:xfrm>
          <a:prstGeom prst="rect">
            <a:avLst/>
          </a:prstGeom>
          <a:noFill/>
        </p:spPr>
        <p:txBody>
          <a:bodyPr wrap="square" rtlCol="0">
            <a:spAutoFit/>
          </a:bodyPr>
          <a:lstStyle/>
          <a:p>
            <a:r>
              <a:rPr lang="en-IN" b="1" u="sng" dirty="0"/>
              <a:t> Method 1 load questions</a:t>
            </a:r>
          </a:p>
        </p:txBody>
      </p:sp>
      <p:sp>
        <p:nvSpPr>
          <p:cNvPr id="16" name="TextBox 15">
            <a:extLst>
              <a:ext uri="{FF2B5EF4-FFF2-40B4-BE49-F238E27FC236}">
                <a16:creationId xmlns:a16="http://schemas.microsoft.com/office/drawing/2014/main" id="{38ECC646-E26D-F922-0F00-C40EA1EBD297}"/>
              </a:ext>
            </a:extLst>
          </p:cNvPr>
          <p:cNvSpPr txBox="1"/>
          <p:nvPr/>
        </p:nvSpPr>
        <p:spPr>
          <a:xfrm>
            <a:off x="102364" y="6408410"/>
            <a:ext cx="2388368" cy="307777"/>
          </a:xfrm>
          <a:prstGeom prst="rect">
            <a:avLst/>
          </a:prstGeom>
          <a:noFill/>
        </p:spPr>
        <p:txBody>
          <a:bodyPr wrap="square" rtlCol="0">
            <a:spAutoFit/>
          </a:bodyPr>
          <a:lstStyle/>
          <a:p>
            <a:r>
              <a:rPr lang="en-IN" b="1" u="sng" dirty="0"/>
              <a:t> Method 2 signup</a:t>
            </a:r>
          </a:p>
        </p:txBody>
      </p:sp>
      <p:sp>
        <p:nvSpPr>
          <p:cNvPr id="17" name="TextBox 16">
            <a:extLst>
              <a:ext uri="{FF2B5EF4-FFF2-40B4-BE49-F238E27FC236}">
                <a16:creationId xmlns:a16="http://schemas.microsoft.com/office/drawing/2014/main" id="{51AB6AAD-62A3-696E-BD67-FD32F268E990}"/>
              </a:ext>
            </a:extLst>
          </p:cNvPr>
          <p:cNvSpPr txBox="1"/>
          <p:nvPr/>
        </p:nvSpPr>
        <p:spPr>
          <a:xfrm>
            <a:off x="9063524" y="4834415"/>
            <a:ext cx="2511160" cy="307777"/>
          </a:xfrm>
          <a:prstGeom prst="rect">
            <a:avLst/>
          </a:prstGeom>
          <a:noFill/>
        </p:spPr>
        <p:txBody>
          <a:bodyPr wrap="square" rtlCol="0">
            <a:spAutoFit/>
          </a:bodyPr>
          <a:lstStyle/>
          <a:p>
            <a:r>
              <a:rPr lang="en-IN" b="1" u="sng" dirty="0"/>
              <a:t> Method 3 login for the user</a:t>
            </a:r>
          </a:p>
        </p:txBody>
      </p:sp>
    </p:spTree>
    <p:extLst>
      <p:ext uri="{BB962C8B-B14F-4D97-AF65-F5344CB8AC3E}">
        <p14:creationId xmlns:p14="http://schemas.microsoft.com/office/powerpoint/2010/main" val="2296196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EBF71E-7A38-D876-C864-39BDFEB3EC78}"/>
              </a:ext>
            </a:extLst>
          </p:cNvPr>
          <p:cNvPicPr>
            <a:picLocks noChangeAspect="1"/>
          </p:cNvPicPr>
          <p:nvPr/>
        </p:nvPicPr>
        <p:blipFill>
          <a:blip r:embed="rId2"/>
          <a:stretch>
            <a:fillRect/>
          </a:stretch>
        </p:blipFill>
        <p:spPr>
          <a:xfrm>
            <a:off x="58994" y="73214"/>
            <a:ext cx="4483510" cy="6411160"/>
          </a:xfrm>
          <a:prstGeom prst="rect">
            <a:avLst/>
          </a:prstGeom>
        </p:spPr>
      </p:pic>
      <p:sp>
        <p:nvSpPr>
          <p:cNvPr id="6" name="Arrow: Right 5">
            <a:extLst>
              <a:ext uri="{FF2B5EF4-FFF2-40B4-BE49-F238E27FC236}">
                <a16:creationId xmlns:a16="http://schemas.microsoft.com/office/drawing/2014/main" id="{77ECC105-68A6-7CA1-15A9-10408D1DC968}"/>
              </a:ext>
            </a:extLst>
          </p:cNvPr>
          <p:cNvSpPr/>
          <p:nvPr/>
        </p:nvSpPr>
        <p:spPr>
          <a:xfrm>
            <a:off x="4926122" y="2651560"/>
            <a:ext cx="938820" cy="498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D70D0677-E5DD-A4C3-0D88-1652CBC5CBF9}"/>
              </a:ext>
            </a:extLst>
          </p:cNvPr>
          <p:cNvSpPr>
            <a:spLocks noChangeArrowheads="1"/>
          </p:cNvSpPr>
          <p:nvPr/>
        </p:nvSpPr>
        <p:spPr bwMode="auto">
          <a:xfrm>
            <a:off x="6027174" y="197345"/>
            <a:ext cx="6135329"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Defines a </a:t>
            </a:r>
            <a:r>
              <a:rPr kumimoji="0" lang="en-US" altLang="en-US" sz="1800" b="1" i="0" u="none" strike="noStrike" cap="none" normalizeH="0" baseline="0" dirty="0">
                <a:ln>
                  <a:noFill/>
                </a:ln>
                <a:solidFill>
                  <a:schemeClr val="tx1"/>
                </a:solidFill>
                <a:effectLst/>
                <a:latin typeface="Arial" panose="020B0604020202020204" pitchFamily="34" charset="0"/>
              </a:rPr>
              <a:t>User class</a:t>
            </a:r>
            <a:r>
              <a:rPr kumimoji="0" lang="en-US" altLang="en-US" sz="1800" b="0" i="0" u="none" strike="noStrike" cap="none" normalizeH="0" baseline="0" dirty="0">
                <a:ln>
                  <a:noFill/>
                </a:ln>
                <a:solidFill>
                  <a:schemeClr val="tx1"/>
                </a:solidFill>
                <a:effectLst/>
                <a:latin typeface="Arial" panose="020B0604020202020204" pitchFamily="34" charset="0"/>
              </a:rPr>
              <a:t> using object-oriented programming (OOP)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constructor (</a:t>
            </a:r>
            <a:r>
              <a:rPr kumimoji="0" lang="en-US" altLang="en-US" sz="1000" b="1" i="0" u="none" strike="noStrike" cap="none" normalizeH="0" baseline="0" dirty="0">
                <a:ln>
                  <a:noFill/>
                </a:ln>
                <a:solidFill>
                  <a:schemeClr val="tx1"/>
                </a:solidFill>
                <a:effectLst/>
                <a:latin typeface="Arial Unicode MS"/>
              </a:rPr>
              <a:t>__</a:t>
            </a:r>
            <a:r>
              <a:rPr kumimoji="0" lang="en-US" altLang="en-US" sz="1000" b="1" i="0" u="none" strike="noStrike" cap="none" normalizeH="0" baseline="0" dirty="0" err="1">
                <a:ln>
                  <a:noFill/>
                </a:ln>
                <a:solidFill>
                  <a:schemeClr val="tx1"/>
                </a:solidFill>
                <a:effectLst/>
                <a:latin typeface="Arial Unicode MS"/>
              </a:rPr>
              <a:t>init</a:t>
            </a:r>
            <a:r>
              <a:rPr kumimoji="0" lang="en-US" altLang="en-US" sz="1000" b="1" i="0" u="none" strike="noStrike" cap="none" normalizeH="0" baseline="0" dirty="0">
                <a:ln>
                  <a:noFill/>
                </a:ln>
                <a:solidFill>
                  <a:schemeClr val="tx1"/>
                </a:solidFill>
                <a:effectLst/>
                <a:latin typeface="Arial Unicode MS"/>
              </a:rPr>
              <a:t>__</a:t>
            </a:r>
            <a:r>
              <a:rPr kumimoji="0" lang="en-US" altLang="en-US" sz="800" b="0" i="0" u="none" strike="noStrike" cap="none" normalizeH="0" baseline="0" dirty="0">
                <a:ln>
                  <a:noFill/>
                </a:ln>
                <a:solidFill>
                  <a:schemeClr val="tx1"/>
                </a:solidFill>
                <a:effectLst/>
              </a:rPr>
              <a:t>) initializes: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 name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Score =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take_quiz</a:t>
            </a:r>
            <a:r>
              <a:rPr kumimoji="0" lang="en-US" altLang="en-US" sz="1800" b="1" i="0" u="none" strike="noStrike" cap="none" normalizeH="0" baseline="0" dirty="0">
                <a:ln>
                  <a:noFill/>
                </a:ln>
                <a:solidFill>
                  <a:schemeClr val="tx1"/>
                </a:solidFill>
                <a:effectLst/>
                <a:latin typeface="Arial" panose="020B0604020202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Loads questions and checks availability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Randomly shuffles questions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Selects a fixed number (e.g., 10 questions)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questions with options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Takes validated input (only 1–4)</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Checks answers and updates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the </a:t>
            </a:r>
            <a:r>
              <a:rPr kumimoji="0" lang="en-US" altLang="en-US" sz="1800" b="1" i="0" u="none" strike="noStrike" cap="none" normalizeH="0" baseline="0" dirty="0">
                <a:ln>
                  <a:noFill/>
                </a:ln>
                <a:solidFill>
                  <a:schemeClr val="tx1"/>
                </a:solidFill>
                <a:effectLst/>
                <a:latin typeface="Arial" panose="020B0604020202020204" pitchFamily="34" charset="0"/>
              </a:rPr>
              <a:t>final score</a:t>
            </a:r>
            <a:r>
              <a:rPr kumimoji="0" lang="en-US" altLang="en-US" sz="1800" b="0" i="0" u="none" strike="noStrike" cap="none" normalizeH="0" baseline="0" dirty="0">
                <a:ln>
                  <a:noFill/>
                </a:ln>
                <a:solidFill>
                  <a:schemeClr val="tx1"/>
                </a:solidFill>
                <a:effectLst/>
                <a:latin typeface="Arial" panose="020B0604020202020204" pitchFamily="34" charset="0"/>
              </a:rPr>
              <a:t> after completing the quiz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save_score</a:t>
            </a:r>
            <a:r>
              <a:rPr kumimoji="0" lang="en-US" altLang="en-US" sz="1800" b="1" i="0" u="none" strike="noStrike" cap="none" normalizeH="0" baseline="0" dirty="0">
                <a:ln>
                  <a:noFill/>
                </a:ln>
                <a:solidFill>
                  <a:schemeClr val="tx1"/>
                </a:solidFill>
                <a:effectLst/>
                <a:latin typeface="Arial" panose="020B0604020202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Saves user name and score to </a:t>
            </a:r>
            <a:r>
              <a:rPr kumimoji="0" lang="en-US" altLang="en-US" sz="1800" b="1" i="0" u="none" strike="noStrike" cap="none" normalizeH="0" baseline="0" dirty="0">
                <a:ln>
                  <a:noFill/>
                </a:ln>
                <a:solidFill>
                  <a:schemeClr val="tx1"/>
                </a:solidFill>
                <a:effectLst/>
                <a:latin typeface="Arial" panose="020B0604020202020204" pitchFamily="34" charset="0"/>
              </a:rPr>
              <a:t>scores.txt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file handling with exception handling for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Demonstrates key concepts: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OOP (classes &amp;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Loops and conditionals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validation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Randomization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File handling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0447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A094F-C0C8-2151-A0C8-114F026FD0D1}"/>
              </a:ext>
            </a:extLst>
          </p:cNvPr>
          <p:cNvPicPr>
            <a:picLocks noChangeAspect="1"/>
          </p:cNvPicPr>
          <p:nvPr/>
        </p:nvPicPr>
        <p:blipFill>
          <a:blip r:embed="rId2"/>
          <a:stretch>
            <a:fillRect/>
          </a:stretch>
        </p:blipFill>
        <p:spPr>
          <a:xfrm>
            <a:off x="0" y="0"/>
            <a:ext cx="3991897" cy="6858000"/>
          </a:xfrm>
          <a:prstGeom prst="rect">
            <a:avLst/>
          </a:prstGeom>
        </p:spPr>
      </p:pic>
      <p:sp>
        <p:nvSpPr>
          <p:cNvPr id="4" name="Arrow: Right 3">
            <a:extLst>
              <a:ext uri="{FF2B5EF4-FFF2-40B4-BE49-F238E27FC236}">
                <a16:creationId xmlns:a16="http://schemas.microsoft.com/office/drawing/2014/main" id="{6919F0E2-9F03-FA86-CF7F-F8DDDBAA07F8}"/>
              </a:ext>
            </a:extLst>
          </p:cNvPr>
          <p:cNvSpPr/>
          <p:nvPr/>
        </p:nvSpPr>
        <p:spPr>
          <a:xfrm>
            <a:off x="4739148" y="2632587"/>
            <a:ext cx="1356852" cy="7964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07064860-C371-1699-F461-95794B7AC0CB}"/>
              </a:ext>
            </a:extLst>
          </p:cNvPr>
          <p:cNvSpPr>
            <a:spLocks noChangeArrowheads="1"/>
          </p:cNvSpPr>
          <p:nvPr/>
        </p:nvSpPr>
        <p:spPr bwMode="auto">
          <a:xfrm>
            <a:off x="6096000" y="298047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466B7323-8F94-34CF-2382-AD7981696F24}"/>
              </a:ext>
            </a:extLst>
          </p:cNvPr>
          <p:cNvSpPr>
            <a:spLocks noChangeArrowheads="1"/>
          </p:cNvSpPr>
          <p:nvPr/>
        </p:nvSpPr>
        <p:spPr bwMode="auto">
          <a:xfrm>
            <a:off x="6096000" y="0"/>
            <a:ext cx="6096000"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 is your content in concise bullet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Defines an </a:t>
            </a:r>
            <a:r>
              <a:rPr kumimoji="0" lang="en-US" altLang="en-US" sz="1800" b="1" i="0" u="none" strike="noStrike" cap="none" normalizeH="0" baseline="0" dirty="0">
                <a:ln>
                  <a:noFill/>
                </a:ln>
                <a:solidFill>
                  <a:schemeClr val="tx1"/>
                </a:solidFill>
                <a:effectLst/>
                <a:latin typeface="Arial" panose="020B0604020202020204" pitchFamily="34" charset="0"/>
              </a:rPr>
              <a:t>Admin class</a:t>
            </a:r>
            <a:r>
              <a:rPr kumimoji="0" lang="en-US" altLang="en-US" sz="1800" b="0" i="0" u="none" strike="noStrike" cap="none" normalizeH="0" baseline="0" dirty="0">
                <a:ln>
                  <a:noFill/>
                </a:ln>
                <a:solidFill>
                  <a:schemeClr val="tx1"/>
                </a:solidFill>
                <a:effectLst/>
                <a:latin typeface="Arial" panose="020B0604020202020204" pitchFamily="34" charset="0"/>
              </a:rPr>
              <a:t> to manage quiz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key operations: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questions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View scores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Delete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add_question</a:t>
            </a:r>
            <a:r>
              <a:rPr kumimoji="0" lang="en-US" altLang="en-US" sz="1800" b="1" i="0" u="none" strike="noStrike" cap="none" normalizeH="0" baseline="0" dirty="0">
                <a:ln>
                  <a:noFill/>
                </a:ln>
                <a:solidFill>
                  <a:schemeClr val="tx1"/>
                </a:solidFill>
                <a:effectLst/>
                <a:latin typeface="Arial" panose="020B0604020202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Takes question, 4 options, and correct answer (1–4)</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Validates input and formats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Saves to </a:t>
            </a:r>
            <a:r>
              <a:rPr kumimoji="0" lang="en-US" altLang="en-US" sz="1800" b="1" i="0" u="none" strike="noStrike" cap="none" normalizeH="0" baseline="0" dirty="0">
                <a:ln>
                  <a:noFill/>
                </a:ln>
                <a:solidFill>
                  <a:schemeClr val="tx1"/>
                </a:solidFill>
                <a:effectLst/>
                <a:latin typeface="Arial" panose="020B0604020202020204" pitchFamily="34" charset="0"/>
              </a:rPr>
              <a:t>questions.txt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adding multiple questions in a loop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view_scores</a:t>
            </a:r>
            <a:r>
              <a:rPr kumimoji="0" lang="en-US" altLang="en-US" sz="1800" b="1" i="0" u="none" strike="noStrike" cap="none" normalizeH="0" baseline="0" dirty="0">
                <a:ln>
                  <a:noFill/>
                </a:ln>
                <a:solidFill>
                  <a:schemeClr val="tx1"/>
                </a:solidFill>
                <a:effectLst/>
                <a:latin typeface="Arial" panose="020B0604020202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Reads data from </a:t>
            </a:r>
            <a:r>
              <a:rPr kumimoji="0" lang="en-US" altLang="en-US" sz="1800" b="1" i="0" u="none" strike="noStrike" cap="none" normalizeH="0" baseline="0" dirty="0">
                <a:ln>
                  <a:noFill/>
                </a:ln>
                <a:solidFill>
                  <a:schemeClr val="tx1"/>
                </a:solidFill>
                <a:effectLst/>
                <a:latin typeface="Arial" panose="020B0604020202020204" pitchFamily="34" charset="0"/>
              </a:rPr>
              <a:t>scores.txt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Checks if scores exist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a sorted leaderboard (highest to lowest)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delete_question</a:t>
            </a:r>
            <a:r>
              <a:rPr kumimoji="0" lang="en-US" altLang="en-US" sz="1800" b="1" i="0" u="none" strike="noStrike" cap="none" normalizeH="0" baseline="0" dirty="0">
                <a:ln>
                  <a:noFill/>
                </a:ln>
                <a:solidFill>
                  <a:schemeClr val="tx1"/>
                </a:solidFill>
                <a:effectLst/>
                <a:latin typeface="Arial" panose="020B0604020202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all questions with numbering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deletion by selecting index</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Updates file with remaining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important concepts: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File handling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Loops and conditionals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Exception handling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List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3204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Left 18">
            <a:extLst>
              <a:ext uri="{FF2B5EF4-FFF2-40B4-BE49-F238E27FC236}">
                <a16:creationId xmlns:a16="http://schemas.microsoft.com/office/drawing/2014/main" id="{382F243B-4690-69C8-7343-A6E2D3ABE49F}"/>
              </a:ext>
            </a:extLst>
          </p:cNvPr>
          <p:cNvSpPr/>
          <p:nvPr/>
        </p:nvSpPr>
        <p:spPr>
          <a:xfrm>
            <a:off x="3887589" y="2864249"/>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sp>
        <p:nvSpPr>
          <p:cNvPr id="24" name="TextBox 23">
            <a:extLst>
              <a:ext uri="{FF2B5EF4-FFF2-40B4-BE49-F238E27FC236}">
                <a16:creationId xmlns:a16="http://schemas.microsoft.com/office/drawing/2014/main" id="{C3175039-429B-BE0B-30DC-92B82059FD05}"/>
              </a:ext>
            </a:extLst>
          </p:cNvPr>
          <p:cNvSpPr txBox="1"/>
          <p:nvPr/>
        </p:nvSpPr>
        <p:spPr>
          <a:xfrm>
            <a:off x="459662" y="6340156"/>
            <a:ext cx="3889420" cy="307777"/>
          </a:xfrm>
          <a:prstGeom prst="rect">
            <a:avLst/>
          </a:prstGeom>
          <a:noFill/>
        </p:spPr>
        <p:txBody>
          <a:bodyPr wrap="square" rtlCol="0">
            <a:spAutoFit/>
          </a:bodyPr>
          <a:lstStyle/>
          <a:p>
            <a:r>
              <a:rPr lang="en-US" b="1" u="sng" dirty="0"/>
              <a:t>The main method of this Quiz project</a:t>
            </a:r>
            <a:endParaRPr lang="en-IN" b="1" u="sng" dirty="0"/>
          </a:p>
        </p:txBody>
      </p:sp>
      <p:pic>
        <p:nvPicPr>
          <p:cNvPr id="3" name="Picture 2">
            <a:extLst>
              <a:ext uri="{FF2B5EF4-FFF2-40B4-BE49-F238E27FC236}">
                <a16:creationId xmlns:a16="http://schemas.microsoft.com/office/drawing/2014/main" id="{5BDEE259-FE78-9039-FBAC-73BB8B714064}"/>
              </a:ext>
            </a:extLst>
          </p:cNvPr>
          <p:cNvPicPr>
            <a:picLocks noChangeAspect="1"/>
          </p:cNvPicPr>
          <p:nvPr/>
        </p:nvPicPr>
        <p:blipFill>
          <a:blip r:embed="rId2"/>
          <a:stretch>
            <a:fillRect/>
          </a:stretch>
        </p:blipFill>
        <p:spPr>
          <a:xfrm>
            <a:off x="728758" y="210067"/>
            <a:ext cx="2848373" cy="6106377"/>
          </a:xfrm>
          <a:prstGeom prst="rect">
            <a:avLst/>
          </a:prstGeom>
        </p:spPr>
      </p:pic>
      <p:sp>
        <p:nvSpPr>
          <p:cNvPr id="2" name="Rectangle 1">
            <a:extLst>
              <a:ext uri="{FF2B5EF4-FFF2-40B4-BE49-F238E27FC236}">
                <a16:creationId xmlns:a16="http://schemas.microsoft.com/office/drawing/2014/main" id="{9ADD8503-FEBB-BB43-543C-764535015DE2}"/>
              </a:ext>
            </a:extLst>
          </p:cNvPr>
          <p:cNvSpPr>
            <a:spLocks noChangeArrowheads="1"/>
          </p:cNvSpPr>
          <p:nvPr/>
        </p:nvSpPr>
        <p:spPr bwMode="auto">
          <a:xfrm>
            <a:off x="4944112" y="370066"/>
            <a:ext cx="651913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 is your content in concise bullet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 function</a:t>
            </a:r>
            <a:r>
              <a:rPr kumimoji="0" lang="en-US" altLang="en-US" sz="1800" b="0" i="0" u="none" strike="noStrike" cap="none" normalizeH="0" baseline="0" dirty="0">
                <a:ln>
                  <a:noFill/>
                </a:ln>
                <a:solidFill>
                  <a:schemeClr val="tx1"/>
                </a:solidFill>
                <a:effectLst/>
                <a:latin typeface="Arial" panose="020B0604020202020204" pitchFamily="34" charset="0"/>
              </a:rPr>
              <a:t> acts as the central controller of the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Runs continuously in a loop until the user selects </a:t>
            </a:r>
            <a:r>
              <a:rPr kumimoji="0" lang="en-US" altLang="en-US" sz="1800" b="1" i="0" u="none" strike="noStrike" cap="none" normalizeH="0" baseline="0" dirty="0">
                <a:ln>
                  <a:noFill/>
                </a:ln>
                <a:solidFill>
                  <a:schemeClr val="tx1"/>
                </a:solidFill>
                <a:effectLst/>
                <a:latin typeface="Arial" panose="020B0604020202020204" pitchFamily="34" charset="0"/>
              </a:rPr>
              <a:t>Exit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menu options: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 mode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Admin mode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mode: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login or signup options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After login, creates a </a:t>
            </a:r>
            <a:r>
              <a:rPr kumimoji="0" lang="en-US" altLang="en-US" sz="1800" b="1" i="0" u="none" strike="noStrike" cap="none" normalizeH="0" baseline="0" dirty="0">
                <a:ln>
                  <a:noFill/>
                </a:ln>
                <a:solidFill>
                  <a:schemeClr val="tx1"/>
                </a:solidFill>
                <a:effectLst/>
                <a:latin typeface="Arial" panose="020B0604020202020204" pitchFamily="34" charset="0"/>
              </a:rPr>
              <a:t>User object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user to take quiz and saves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Admin mode: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Verifies admin password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adding questions or viewing leaderboard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Handles invalid inputs properly and ensures smooth navigation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Acts as the </a:t>
            </a:r>
            <a:r>
              <a:rPr kumimoji="0" lang="en-US" altLang="en-US" sz="1800" b="1" i="0" u="none" strike="noStrike" cap="none" normalizeH="0" baseline="0" dirty="0">
                <a:ln>
                  <a:noFill/>
                </a:ln>
                <a:solidFill>
                  <a:schemeClr val="tx1"/>
                </a:solidFill>
                <a:effectLst/>
                <a:latin typeface="Arial" panose="020B0604020202020204" pitchFamily="34" charset="0"/>
              </a:rPr>
              <a:t>backbone of the system</a:t>
            </a:r>
            <a:r>
              <a:rPr kumimoji="0" lang="en-US" altLang="en-US" sz="1800" b="0" i="0" u="none" strike="noStrike" cap="none" normalizeH="0" baseline="0" dirty="0">
                <a:ln>
                  <a:noFill/>
                </a:ln>
                <a:solidFill>
                  <a:schemeClr val="tx1"/>
                </a:solidFill>
                <a:effectLst/>
                <a:latin typeface="Arial" panose="020B0604020202020204" pitchFamily="34" charset="0"/>
              </a:rPr>
              <a:t>, coordinating all functionalities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3194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8C4E5A-4AB3-160B-E531-C946989A45FE}"/>
              </a:ext>
            </a:extLst>
          </p:cNvPr>
          <p:cNvPicPr>
            <a:picLocks noChangeAspect="1"/>
          </p:cNvPicPr>
          <p:nvPr/>
        </p:nvPicPr>
        <p:blipFill>
          <a:blip r:embed="rId2"/>
          <a:stretch>
            <a:fillRect/>
          </a:stretch>
        </p:blipFill>
        <p:spPr>
          <a:xfrm>
            <a:off x="2713703" y="0"/>
            <a:ext cx="5980471" cy="6858000"/>
          </a:xfrm>
          <a:prstGeom prst="rect">
            <a:avLst/>
          </a:prstGeom>
        </p:spPr>
      </p:pic>
    </p:spTree>
    <p:extLst>
      <p:ext uri="{BB962C8B-B14F-4D97-AF65-F5344CB8AC3E}">
        <p14:creationId xmlns:p14="http://schemas.microsoft.com/office/powerpoint/2010/main" val="2776500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364AA9E3-C070-1A20-68E3-811EF4393A37}"/>
              </a:ext>
            </a:extLst>
          </p:cNvPr>
          <p:cNvSpPr txBox="1"/>
          <p:nvPr/>
        </p:nvSpPr>
        <p:spPr>
          <a:xfrm>
            <a:off x="6399523" y="1747638"/>
            <a:ext cx="5164429" cy="1200329"/>
          </a:xfrm>
          <a:prstGeom prst="rect">
            <a:avLst/>
          </a:prstGeom>
          <a:noFill/>
        </p:spPr>
        <p:txBody>
          <a:bodyPr wrap="square" rtlCol="0">
            <a:spAutoFit/>
          </a:bodyPr>
          <a:lstStyle/>
          <a:p>
            <a:r>
              <a:rPr lang="en-US" sz="2400" dirty="0"/>
              <a:t>It shows the </a:t>
            </a:r>
            <a:r>
              <a:rPr lang="en-US" sz="2400" b="1" dirty="0"/>
              <a:t>main menu</a:t>
            </a:r>
            <a:r>
              <a:rPr lang="en-US" sz="2400" dirty="0"/>
              <a:t> of the quiz program where the user chooses between User, Admin, or Exit.</a:t>
            </a:r>
            <a:endParaRPr lang="en-IN" sz="2400" dirty="0"/>
          </a:p>
        </p:txBody>
      </p:sp>
      <p:sp>
        <p:nvSpPr>
          <p:cNvPr id="16" name="Arrow: Left 15">
            <a:extLst>
              <a:ext uri="{FF2B5EF4-FFF2-40B4-BE49-F238E27FC236}">
                <a16:creationId xmlns:a16="http://schemas.microsoft.com/office/drawing/2014/main" id="{454F5A3C-8E35-BDF0-CB99-C15C6617A063}"/>
              </a:ext>
            </a:extLst>
          </p:cNvPr>
          <p:cNvSpPr/>
          <p:nvPr/>
        </p:nvSpPr>
        <p:spPr>
          <a:xfrm>
            <a:off x="4952795" y="2254430"/>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sp>
        <p:nvSpPr>
          <p:cNvPr id="17" name="Arrow: Left 16">
            <a:extLst>
              <a:ext uri="{FF2B5EF4-FFF2-40B4-BE49-F238E27FC236}">
                <a16:creationId xmlns:a16="http://schemas.microsoft.com/office/drawing/2014/main" id="{76736E71-3EAB-DE82-C580-8D22F8B076B1}"/>
              </a:ext>
            </a:extLst>
          </p:cNvPr>
          <p:cNvSpPr/>
          <p:nvPr/>
        </p:nvSpPr>
        <p:spPr>
          <a:xfrm>
            <a:off x="4952795" y="4814632"/>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pic>
        <p:nvPicPr>
          <p:cNvPr id="5" name="Picture 4">
            <a:extLst>
              <a:ext uri="{FF2B5EF4-FFF2-40B4-BE49-F238E27FC236}">
                <a16:creationId xmlns:a16="http://schemas.microsoft.com/office/drawing/2014/main" id="{DE2A5CAB-9D0D-1712-6F28-92E4CA71435B}"/>
              </a:ext>
            </a:extLst>
          </p:cNvPr>
          <p:cNvPicPr>
            <a:picLocks noChangeAspect="1"/>
          </p:cNvPicPr>
          <p:nvPr/>
        </p:nvPicPr>
        <p:blipFill>
          <a:blip r:embed="rId2"/>
          <a:stretch>
            <a:fillRect/>
          </a:stretch>
        </p:blipFill>
        <p:spPr>
          <a:xfrm>
            <a:off x="346204" y="1423754"/>
            <a:ext cx="4082849" cy="1524213"/>
          </a:xfrm>
          <a:prstGeom prst="rect">
            <a:avLst/>
          </a:prstGeom>
        </p:spPr>
      </p:pic>
      <p:sp>
        <p:nvSpPr>
          <p:cNvPr id="6" name="Rectangle 1">
            <a:extLst>
              <a:ext uri="{FF2B5EF4-FFF2-40B4-BE49-F238E27FC236}">
                <a16:creationId xmlns:a16="http://schemas.microsoft.com/office/drawing/2014/main" id="{C25714CA-C2AA-E3C9-870B-695E74100CDE}"/>
              </a:ext>
            </a:extLst>
          </p:cNvPr>
          <p:cNvSpPr>
            <a:spLocks noChangeArrowheads="1"/>
          </p:cNvSpPr>
          <p:nvPr/>
        </p:nvSpPr>
        <p:spPr bwMode="auto">
          <a:xfrm>
            <a:off x="6007261" y="3494536"/>
            <a:ext cx="555669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user selects </a:t>
            </a:r>
            <a:r>
              <a:rPr kumimoji="0" lang="en-US" altLang="en-US" sz="1800" b="1" i="0" u="none" strike="noStrike" cap="none" normalizeH="0" baseline="0" dirty="0">
                <a:ln>
                  <a:noFill/>
                </a:ln>
                <a:solidFill>
                  <a:schemeClr val="tx1"/>
                </a:solidFill>
                <a:effectLst/>
                <a:latin typeface="Arial" panose="020B0604020202020204" pitchFamily="34" charset="0"/>
              </a:rPr>
              <a:t>User → Signup</a:t>
            </a:r>
            <a:r>
              <a:rPr kumimoji="0" lang="en-US" altLang="en-US" sz="1800" b="0" i="0" u="none" strike="noStrike" cap="none" normalizeH="0" baseline="0" dirty="0">
                <a:ln>
                  <a:noFill/>
                </a:ln>
                <a:solidFill>
                  <a:schemeClr val="tx1"/>
                </a:solidFill>
                <a:effectLst/>
                <a:latin typeface="Arial" panose="020B0604020202020204" pitchFamily="34" charset="0"/>
              </a:rPr>
              <a:t>, creates a new account, and gets a success message.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Then selects </a:t>
            </a:r>
            <a:r>
              <a:rPr kumimoji="0" lang="en-US" altLang="en-US" sz="1800" b="1" i="0" u="none" strike="noStrike" cap="none" normalizeH="0" baseline="0" dirty="0">
                <a:ln>
                  <a:noFill/>
                </a:ln>
                <a:solidFill>
                  <a:schemeClr val="tx1"/>
                </a:solidFill>
                <a:effectLst/>
                <a:latin typeface="Arial" panose="020B0604020202020204" pitchFamily="34" charset="0"/>
              </a:rPr>
              <a:t>User → Login</a:t>
            </a:r>
            <a:r>
              <a:rPr kumimoji="0" lang="en-US" altLang="en-US" sz="1800" b="0" i="0" u="none" strike="noStrike" cap="none" normalizeH="0" baseline="0" dirty="0">
                <a:ln>
                  <a:noFill/>
                </a:ln>
                <a:solidFill>
                  <a:schemeClr val="tx1"/>
                </a:solidFill>
                <a:effectLst/>
                <a:latin typeface="Arial" panose="020B0604020202020204" pitchFamily="34" charset="0"/>
              </a:rPr>
              <a:t>, enters credentials, and logs in successfully.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After login, the quiz starts and displays a question with options.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program waits for the user to enter an answer (1–4). </a:t>
            </a:r>
          </a:p>
        </p:txBody>
      </p:sp>
      <p:pic>
        <p:nvPicPr>
          <p:cNvPr id="8" name="Picture 7">
            <a:extLst>
              <a:ext uri="{FF2B5EF4-FFF2-40B4-BE49-F238E27FC236}">
                <a16:creationId xmlns:a16="http://schemas.microsoft.com/office/drawing/2014/main" id="{F1DCD2CA-2860-8CDD-AB68-E833FD2E2124}"/>
              </a:ext>
            </a:extLst>
          </p:cNvPr>
          <p:cNvPicPr>
            <a:picLocks noChangeAspect="1"/>
          </p:cNvPicPr>
          <p:nvPr/>
        </p:nvPicPr>
        <p:blipFill>
          <a:blip r:embed="rId3"/>
          <a:stretch>
            <a:fillRect/>
          </a:stretch>
        </p:blipFill>
        <p:spPr>
          <a:xfrm>
            <a:off x="564162" y="3470585"/>
            <a:ext cx="3646931" cy="3116958"/>
          </a:xfrm>
          <a:prstGeom prst="rect">
            <a:avLst/>
          </a:prstGeom>
        </p:spPr>
      </p:pic>
      <p:sp>
        <p:nvSpPr>
          <p:cNvPr id="3" name="TextBox 2">
            <a:extLst>
              <a:ext uri="{FF2B5EF4-FFF2-40B4-BE49-F238E27FC236}">
                <a16:creationId xmlns:a16="http://schemas.microsoft.com/office/drawing/2014/main" id="{96DDA264-42F7-CB82-0A00-EB42BFE8AAB4}"/>
              </a:ext>
            </a:extLst>
          </p:cNvPr>
          <p:cNvSpPr txBox="1"/>
          <p:nvPr/>
        </p:nvSpPr>
        <p:spPr>
          <a:xfrm>
            <a:off x="437881" y="270457"/>
            <a:ext cx="7508383" cy="769441"/>
          </a:xfrm>
          <a:prstGeom prst="rect">
            <a:avLst/>
          </a:prstGeom>
          <a:noFill/>
        </p:spPr>
        <p:txBody>
          <a:bodyPr wrap="square" rtlCol="0">
            <a:spAutoFit/>
          </a:bodyPr>
          <a:lstStyle/>
          <a:p>
            <a:r>
              <a:rPr lang="en-US" sz="4400" b="1" u="sng" dirty="0">
                <a:solidFill>
                  <a:srgbClr val="FF0000"/>
                </a:solidFill>
              </a:rPr>
              <a:t>Execution Of The Code</a:t>
            </a:r>
            <a:endParaRPr lang="en-IN" sz="4400" b="1" u="sng" dirty="0">
              <a:solidFill>
                <a:srgbClr val="FF0000"/>
              </a:solidFill>
            </a:endParaRPr>
          </a:p>
        </p:txBody>
      </p:sp>
    </p:spTree>
    <p:extLst>
      <p:ext uri="{BB962C8B-B14F-4D97-AF65-F5344CB8AC3E}">
        <p14:creationId xmlns:p14="http://schemas.microsoft.com/office/powerpoint/2010/main" val="98778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Left 3">
            <a:extLst>
              <a:ext uri="{FF2B5EF4-FFF2-40B4-BE49-F238E27FC236}">
                <a16:creationId xmlns:a16="http://schemas.microsoft.com/office/drawing/2014/main" id="{E914DCDB-D068-D969-8687-31861EE4FFE4}"/>
              </a:ext>
            </a:extLst>
          </p:cNvPr>
          <p:cNvSpPr/>
          <p:nvPr/>
        </p:nvSpPr>
        <p:spPr>
          <a:xfrm>
            <a:off x="4273204" y="1902652"/>
            <a:ext cx="922986" cy="186744"/>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p>
        </p:txBody>
      </p:sp>
      <p:sp>
        <p:nvSpPr>
          <p:cNvPr id="2" name="Rectangle 1">
            <a:extLst>
              <a:ext uri="{FF2B5EF4-FFF2-40B4-BE49-F238E27FC236}">
                <a16:creationId xmlns:a16="http://schemas.microsoft.com/office/drawing/2014/main" id="{49D27818-7ED4-3D42-C42D-56CFC9A8C5D0}"/>
              </a:ext>
            </a:extLst>
          </p:cNvPr>
          <p:cNvSpPr>
            <a:spLocks noChangeArrowheads="1"/>
          </p:cNvSpPr>
          <p:nvPr/>
        </p:nvSpPr>
        <p:spPr bwMode="auto">
          <a:xfrm>
            <a:off x="5555849" y="1449901"/>
            <a:ext cx="60981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admin logs in using the correct password and selects </a:t>
            </a:r>
            <a:r>
              <a:rPr kumimoji="0" lang="en-US" altLang="en-US" sz="1800" b="1" i="0" u="none" strike="noStrike" cap="none" normalizeH="0" baseline="0" dirty="0">
                <a:ln>
                  <a:noFill/>
                </a:ln>
                <a:solidFill>
                  <a:schemeClr val="tx1"/>
                </a:solidFill>
                <a:effectLst/>
                <a:latin typeface="Arial" panose="020B0604020202020204" pitchFamily="34" charset="0"/>
              </a:rPr>
              <a:t>Add Question</a:t>
            </a:r>
            <a:r>
              <a:rPr kumimoji="0" lang="en-US" altLang="en-US" sz="1800" b="0" i="0" u="none" strike="noStrike" cap="none" normalizeH="0" baseline="0" dirty="0">
                <a:ln>
                  <a:noFill/>
                </a:ln>
                <a:solidFill>
                  <a:schemeClr val="tx1"/>
                </a:solidFill>
                <a:effectLst/>
                <a:latin typeface="Arial" panose="020B0604020202020204" pitchFamily="34" charset="0"/>
              </a:rPr>
              <a:t>, then enters a question, options, and correct answer, which gets saved successfully.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admin chooses not to add more questions and returns to the main menu.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Then the admin logs in again and selects </a:t>
            </a:r>
            <a:r>
              <a:rPr kumimoji="0" lang="en-US" altLang="en-US" sz="1800" b="1" i="0" u="none" strike="noStrike" cap="none" normalizeH="0" baseline="0" dirty="0">
                <a:ln>
                  <a:noFill/>
                </a:ln>
                <a:solidFill>
                  <a:schemeClr val="tx1"/>
                </a:solidFill>
                <a:effectLst/>
                <a:latin typeface="Arial" panose="020B0604020202020204" pitchFamily="34" charset="0"/>
              </a:rPr>
              <a:t>View Scores</a:t>
            </a:r>
            <a:r>
              <a:rPr kumimoji="0" lang="en-US" altLang="en-US" sz="1800" b="0" i="0" u="none" strike="noStrike" cap="none" normalizeH="0" baseline="0" dirty="0">
                <a:ln>
                  <a:noFill/>
                </a:ln>
                <a:solidFill>
                  <a:schemeClr val="tx1"/>
                </a:solidFill>
                <a:effectLst/>
                <a:latin typeface="Arial" panose="020B0604020202020204" pitchFamily="34" charset="0"/>
              </a:rPr>
              <a:t>, which displays the leaderboard with user scores.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Finally, the user selects </a:t>
            </a:r>
            <a:r>
              <a:rPr kumimoji="0" lang="en-US" altLang="en-US" sz="1800" b="1" i="0" u="none" strike="noStrike" cap="none" normalizeH="0" baseline="0" dirty="0">
                <a:ln>
                  <a:noFill/>
                </a:ln>
                <a:solidFill>
                  <a:schemeClr val="tx1"/>
                </a:solidFill>
                <a:effectLst/>
                <a:latin typeface="Arial" panose="020B0604020202020204" pitchFamily="34" charset="0"/>
              </a:rPr>
              <a:t>Exit</a:t>
            </a:r>
            <a:r>
              <a:rPr kumimoji="0" lang="en-US" altLang="en-US" sz="1800" b="0" i="0" u="none" strike="noStrike" cap="none" normalizeH="0" baseline="0" dirty="0">
                <a:ln>
                  <a:noFill/>
                </a:ln>
                <a:solidFill>
                  <a:schemeClr val="tx1"/>
                </a:solidFill>
                <a:effectLst/>
                <a:latin typeface="Arial" panose="020B0604020202020204" pitchFamily="34" charset="0"/>
              </a:rPr>
              <a:t>, and the program terminates </a:t>
            </a:r>
          </a:p>
        </p:txBody>
      </p:sp>
      <p:pic>
        <p:nvPicPr>
          <p:cNvPr id="7" name="Picture 6">
            <a:extLst>
              <a:ext uri="{FF2B5EF4-FFF2-40B4-BE49-F238E27FC236}">
                <a16:creationId xmlns:a16="http://schemas.microsoft.com/office/drawing/2014/main" id="{9D506CBA-8989-1229-CDFE-B1219BDA14E2}"/>
              </a:ext>
            </a:extLst>
          </p:cNvPr>
          <p:cNvPicPr>
            <a:picLocks noChangeAspect="1"/>
          </p:cNvPicPr>
          <p:nvPr/>
        </p:nvPicPr>
        <p:blipFill>
          <a:blip r:embed="rId2"/>
          <a:stretch>
            <a:fillRect/>
          </a:stretch>
        </p:blipFill>
        <p:spPr>
          <a:xfrm>
            <a:off x="255211" y="671332"/>
            <a:ext cx="3658334" cy="5000263"/>
          </a:xfrm>
          <a:prstGeom prst="rect">
            <a:avLst/>
          </a:prstGeom>
        </p:spPr>
      </p:pic>
    </p:spTree>
    <p:extLst>
      <p:ext uri="{BB962C8B-B14F-4D97-AF65-F5344CB8AC3E}">
        <p14:creationId xmlns:p14="http://schemas.microsoft.com/office/powerpoint/2010/main" val="3978062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163ABD-1F70-B238-71ED-1E216F033776}"/>
              </a:ext>
            </a:extLst>
          </p:cNvPr>
          <p:cNvSpPr txBox="1"/>
          <p:nvPr/>
        </p:nvSpPr>
        <p:spPr>
          <a:xfrm>
            <a:off x="157316" y="314632"/>
            <a:ext cx="5142271" cy="523220"/>
          </a:xfrm>
          <a:prstGeom prst="rect">
            <a:avLst/>
          </a:prstGeom>
          <a:noFill/>
        </p:spPr>
        <p:txBody>
          <a:bodyPr wrap="square" rtlCol="0">
            <a:spAutoFit/>
          </a:bodyPr>
          <a:lstStyle/>
          <a:p>
            <a:r>
              <a:rPr lang="en-IN" sz="2800" u="sng" dirty="0">
                <a:solidFill>
                  <a:srgbClr val="FF0000"/>
                </a:solidFill>
              </a:rPr>
              <a:t>Future Enhancements:</a:t>
            </a:r>
          </a:p>
        </p:txBody>
      </p:sp>
      <p:sp>
        <p:nvSpPr>
          <p:cNvPr id="3" name="TextBox 2">
            <a:extLst>
              <a:ext uri="{FF2B5EF4-FFF2-40B4-BE49-F238E27FC236}">
                <a16:creationId xmlns:a16="http://schemas.microsoft.com/office/drawing/2014/main" id="{6AD9BCE5-86B0-731B-14E6-66843585F369}"/>
              </a:ext>
            </a:extLst>
          </p:cNvPr>
          <p:cNvSpPr txBox="1"/>
          <p:nvPr/>
        </p:nvSpPr>
        <p:spPr>
          <a:xfrm>
            <a:off x="275303" y="1081548"/>
            <a:ext cx="6715432" cy="1938992"/>
          </a:xfrm>
          <a:prstGeom prst="rect">
            <a:avLst/>
          </a:prstGeom>
          <a:noFill/>
        </p:spPr>
        <p:txBody>
          <a:bodyPr wrap="square" rtlCol="0">
            <a:spAutoFit/>
          </a:bodyPr>
          <a:lstStyle/>
          <a:p>
            <a:r>
              <a:rPr lang="en-IN" sz="2000" dirty="0"/>
              <a:t>• Develop GUI using </a:t>
            </a:r>
            <a:r>
              <a:rPr lang="en-IN" sz="2000" dirty="0" err="1"/>
              <a:t>Tkinter</a:t>
            </a:r>
            <a:r>
              <a:rPr lang="en-IN" sz="2000" dirty="0"/>
              <a:t> or Web Interface  </a:t>
            </a:r>
          </a:p>
          <a:p>
            <a:r>
              <a:rPr lang="en-IN" sz="2000" dirty="0"/>
              <a:t>• Replace text files with database (MySQL / SQLite)  </a:t>
            </a:r>
          </a:p>
          <a:p>
            <a:r>
              <a:rPr lang="en-IN" sz="2000" dirty="0"/>
              <a:t>• Add timer-based quiz functionality  </a:t>
            </a:r>
          </a:p>
          <a:p>
            <a:r>
              <a:rPr lang="en-IN" sz="2000" dirty="0"/>
              <a:t>• Implement password encryption for security  </a:t>
            </a:r>
          </a:p>
          <a:p>
            <a:r>
              <a:rPr lang="en-IN" sz="2000" dirty="0"/>
              <a:t>• Add user performance analytics and reports  </a:t>
            </a:r>
          </a:p>
          <a:p>
            <a:r>
              <a:rPr lang="en-IN" sz="2000" dirty="0"/>
              <a:t>• Introduce multiple quiz categories </a:t>
            </a:r>
          </a:p>
        </p:txBody>
      </p:sp>
      <p:sp>
        <p:nvSpPr>
          <p:cNvPr id="4" name="TextBox 3">
            <a:extLst>
              <a:ext uri="{FF2B5EF4-FFF2-40B4-BE49-F238E27FC236}">
                <a16:creationId xmlns:a16="http://schemas.microsoft.com/office/drawing/2014/main" id="{B10129E0-05F2-092B-E667-5F7B5C528BCD}"/>
              </a:ext>
            </a:extLst>
          </p:cNvPr>
          <p:cNvSpPr txBox="1"/>
          <p:nvPr/>
        </p:nvSpPr>
        <p:spPr>
          <a:xfrm>
            <a:off x="157316" y="3321278"/>
            <a:ext cx="4149212" cy="523220"/>
          </a:xfrm>
          <a:prstGeom prst="rect">
            <a:avLst/>
          </a:prstGeom>
          <a:noFill/>
        </p:spPr>
        <p:txBody>
          <a:bodyPr wrap="square" rtlCol="0">
            <a:spAutoFit/>
          </a:bodyPr>
          <a:lstStyle/>
          <a:p>
            <a:r>
              <a:rPr lang="en-IN" sz="2800" u="sng" dirty="0">
                <a:solidFill>
                  <a:srgbClr val="FF0000"/>
                </a:solidFill>
              </a:rPr>
              <a:t>Limitations:</a:t>
            </a:r>
          </a:p>
        </p:txBody>
      </p:sp>
      <p:sp>
        <p:nvSpPr>
          <p:cNvPr id="5" name="TextBox 4">
            <a:extLst>
              <a:ext uri="{FF2B5EF4-FFF2-40B4-BE49-F238E27FC236}">
                <a16:creationId xmlns:a16="http://schemas.microsoft.com/office/drawing/2014/main" id="{C141EAEE-724B-4F41-8972-512BB7877800}"/>
              </a:ext>
            </a:extLst>
          </p:cNvPr>
          <p:cNvSpPr txBox="1"/>
          <p:nvPr/>
        </p:nvSpPr>
        <p:spPr>
          <a:xfrm>
            <a:off x="275303" y="4145236"/>
            <a:ext cx="5938683" cy="1631216"/>
          </a:xfrm>
          <a:prstGeom prst="rect">
            <a:avLst/>
          </a:prstGeom>
          <a:noFill/>
        </p:spPr>
        <p:txBody>
          <a:bodyPr wrap="square" rtlCol="0">
            <a:spAutoFit/>
          </a:bodyPr>
          <a:lstStyle/>
          <a:p>
            <a:r>
              <a:rPr lang="en-US" sz="2000" dirty="0"/>
              <a:t>• Uses text files instead of database  </a:t>
            </a:r>
          </a:p>
          <a:p>
            <a:r>
              <a:rPr lang="en-US" sz="2000" dirty="0"/>
              <a:t>• No encryption for user passwords  </a:t>
            </a:r>
          </a:p>
          <a:p>
            <a:r>
              <a:rPr lang="en-US" sz="2000" dirty="0"/>
              <a:t>• Console-based interface (no GUI)  </a:t>
            </a:r>
          </a:p>
          <a:p>
            <a:r>
              <a:rPr lang="en-US" sz="2000" dirty="0"/>
              <a:t>• Limited scalability for large number of users  </a:t>
            </a:r>
          </a:p>
          <a:p>
            <a:r>
              <a:rPr lang="en-US" sz="2000" dirty="0"/>
              <a:t>• No timer or advanced quiz features </a:t>
            </a:r>
            <a:endParaRPr lang="en-IN" sz="2000" dirty="0"/>
          </a:p>
        </p:txBody>
      </p:sp>
    </p:spTree>
    <p:extLst>
      <p:ext uri="{BB962C8B-B14F-4D97-AF65-F5344CB8AC3E}">
        <p14:creationId xmlns:p14="http://schemas.microsoft.com/office/powerpoint/2010/main" val="3598127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15F6E-A541-E9D4-0C46-33C0E0DB7B52}"/>
              </a:ext>
            </a:extLst>
          </p:cNvPr>
          <p:cNvSpPr>
            <a:spLocks noGrp="1"/>
          </p:cNvSpPr>
          <p:nvPr>
            <p:ph type="title"/>
          </p:nvPr>
        </p:nvSpPr>
        <p:spPr/>
        <p:txBody>
          <a:bodyPr/>
          <a:lstStyle/>
          <a:p>
            <a:r>
              <a:rPr lang="en-IN" b="1" u="sng" dirty="0">
                <a:solidFill>
                  <a:srgbClr val="FF0000"/>
                </a:solidFill>
              </a:rPr>
              <a:t>Conclusion</a:t>
            </a:r>
          </a:p>
        </p:txBody>
      </p:sp>
      <p:sp>
        <p:nvSpPr>
          <p:cNvPr id="3" name="Rectangle 1">
            <a:extLst>
              <a:ext uri="{FF2B5EF4-FFF2-40B4-BE49-F238E27FC236}">
                <a16:creationId xmlns:a16="http://schemas.microsoft.com/office/drawing/2014/main" id="{22EB9218-A70A-449C-715D-C94D172BD858}"/>
              </a:ext>
            </a:extLst>
          </p:cNvPr>
          <p:cNvSpPr>
            <a:spLocks noChangeArrowheads="1"/>
          </p:cNvSpPr>
          <p:nvPr/>
        </p:nvSpPr>
        <p:spPr bwMode="auto">
          <a:xfrm>
            <a:off x="838200" y="1871104"/>
            <a:ext cx="1087418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2400" dirty="0"/>
              <a:t>This project demonstrates a complete quiz management system built using Python, integrating key concepts like file handling, functions, loops, and object-oriented programming. It allows users to securely signup, login, and take quizzes while tracking their scores, and provides admin features to manage questions and view results. Overall, the project is user-friendly, efficient, and showcases practical implementation of core Python concepts in a real-world application.</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6271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1D678E-C6A0-4493-53FD-A54052BDD25B}"/>
              </a:ext>
            </a:extLst>
          </p:cNvPr>
          <p:cNvSpPr txBox="1"/>
          <p:nvPr/>
        </p:nvSpPr>
        <p:spPr>
          <a:xfrm>
            <a:off x="2919376" y="384313"/>
            <a:ext cx="6353248" cy="3154710"/>
          </a:xfrm>
          <a:prstGeom prst="rect">
            <a:avLst/>
          </a:prstGeom>
          <a:noFill/>
        </p:spPr>
        <p:txBody>
          <a:bodyPr wrap="square" rtlCol="0">
            <a:spAutoFit/>
          </a:bodyPr>
          <a:lstStyle/>
          <a:p>
            <a:r>
              <a:rPr lang="en-US" sz="19900" u="sng" dirty="0">
                <a:solidFill>
                  <a:srgbClr val="FF0000"/>
                </a:solidFill>
                <a:latin typeface="Algerian" panose="04020705040A02060702" pitchFamily="82" charset="0"/>
              </a:rPr>
              <a:t>Q</a:t>
            </a:r>
            <a:r>
              <a:rPr lang="en-US" sz="19900" u="sng" dirty="0">
                <a:solidFill>
                  <a:schemeClr val="tx1"/>
                </a:solidFill>
                <a:latin typeface="Algerian" panose="04020705040A02060702" pitchFamily="82" charset="0"/>
              </a:rPr>
              <a:t>&amp;</a:t>
            </a:r>
            <a:r>
              <a:rPr lang="en-US" sz="19900" u="sng" dirty="0">
                <a:solidFill>
                  <a:srgbClr val="FF0000"/>
                </a:solidFill>
                <a:latin typeface="Algerian" panose="04020705040A02060702" pitchFamily="82" charset="0"/>
              </a:rPr>
              <a:t>A</a:t>
            </a:r>
            <a:endParaRPr lang="en-IN" sz="19900" u="sng"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2549715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2591</TotalTime>
  <Words>1916</Words>
  <Application>Microsoft Office PowerPoint</Application>
  <PresentationFormat>Widescreen</PresentationFormat>
  <Paragraphs>211</Paragraphs>
  <Slides>24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Algerian</vt:lpstr>
      <vt:lpstr>Calibri</vt:lpstr>
      <vt:lpstr>Arial Unicode MS</vt:lpstr>
      <vt:lpstr>Lato Black</vt:lpstr>
      <vt:lpstr>Libre Baskerville</vt:lpstr>
      <vt:lpstr>Office Theme</vt:lpstr>
      <vt:lpstr>PowerPoint Presentation</vt:lpstr>
      <vt:lpstr>PowerPoint Presentation</vt:lpstr>
      <vt:lpstr>Agenda</vt:lpstr>
      <vt:lpstr>PowerPoint Presentation</vt:lpstr>
      <vt:lpstr>PowerPoint Presentation</vt:lpstr>
      <vt:lpstr>Objectives</vt:lpstr>
      <vt:lpstr>Problem Statement</vt:lpstr>
      <vt:lpstr>Concepts Used</vt:lpstr>
      <vt:lpstr>PowerPoint Presentation</vt:lpstr>
      <vt:lpstr>Working of the Program</vt:lpstr>
      <vt:lpstr>PowerPoint Presentation</vt:lpstr>
      <vt:lpstr>PowerPoint Presentation</vt:lpstr>
      <vt:lpstr>WORKING OF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PUPPALA SANTHOSH KUMAR</cp:lastModifiedBy>
  <cp:revision>23</cp:revision>
  <dcterms:created xsi:type="dcterms:W3CDTF">2021-02-16T05:19:01Z</dcterms:created>
  <dcterms:modified xsi:type="dcterms:W3CDTF">2026-03-28T09:05:50Z</dcterms:modified>
</cp:coreProperties>
</file>